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71"/>
  </p:notesMasterIdLst>
  <p:sldIdLst>
    <p:sldId id="256" r:id="rId2"/>
    <p:sldId id="1115" r:id="rId3"/>
    <p:sldId id="1546" r:id="rId4"/>
    <p:sldId id="1116" r:id="rId5"/>
    <p:sldId id="1117" r:id="rId6"/>
    <p:sldId id="1120" r:id="rId7"/>
    <p:sldId id="1121" r:id="rId8"/>
    <p:sldId id="1518" r:id="rId9"/>
    <p:sldId id="1123" r:id="rId10"/>
    <p:sldId id="1124" r:id="rId11"/>
    <p:sldId id="1122" r:id="rId12"/>
    <p:sldId id="1125" r:id="rId13"/>
    <p:sldId id="1126" r:id="rId14"/>
    <p:sldId id="1127" r:id="rId15"/>
    <p:sldId id="1128" r:id="rId16"/>
    <p:sldId id="1129" r:id="rId17"/>
    <p:sldId id="1130" r:id="rId18"/>
    <p:sldId id="1548" r:id="rId19"/>
    <p:sldId id="1549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1547" r:id="rId31"/>
    <p:sldId id="1528" r:id="rId32"/>
    <p:sldId id="275" r:id="rId33"/>
    <p:sldId id="1140" r:id="rId34"/>
    <p:sldId id="1141" r:id="rId35"/>
    <p:sldId id="1142" r:id="rId36"/>
    <p:sldId id="1143" r:id="rId37"/>
    <p:sldId id="1144" r:id="rId38"/>
    <p:sldId id="1145" r:id="rId39"/>
    <p:sldId id="1146" r:id="rId40"/>
    <p:sldId id="1147" r:id="rId41"/>
    <p:sldId id="1148" r:id="rId42"/>
    <p:sldId id="1149" r:id="rId43"/>
    <p:sldId id="345" r:id="rId44"/>
    <p:sldId id="346" r:id="rId45"/>
    <p:sldId id="347" r:id="rId46"/>
    <p:sldId id="348" r:id="rId47"/>
    <p:sldId id="341" r:id="rId48"/>
    <p:sldId id="1151" r:id="rId49"/>
    <p:sldId id="966" r:id="rId50"/>
    <p:sldId id="967" r:id="rId51"/>
    <p:sldId id="1519" r:id="rId52"/>
    <p:sldId id="1520" r:id="rId53"/>
    <p:sldId id="1152" r:id="rId54"/>
    <p:sldId id="1153" r:id="rId55"/>
    <p:sldId id="968" r:id="rId56"/>
    <p:sldId id="1154" r:id="rId57"/>
    <p:sldId id="1155" r:id="rId58"/>
    <p:sldId id="1156" r:id="rId59"/>
    <p:sldId id="969" r:id="rId60"/>
    <p:sldId id="971" r:id="rId61"/>
    <p:sldId id="1157" r:id="rId62"/>
    <p:sldId id="976" r:id="rId63"/>
    <p:sldId id="978" r:id="rId64"/>
    <p:sldId id="979" r:id="rId65"/>
    <p:sldId id="1521" r:id="rId66"/>
    <p:sldId id="1175" r:id="rId67"/>
    <p:sldId id="1550" r:id="rId68"/>
    <p:sldId id="1179" r:id="rId69"/>
    <p:sldId id="1530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41" autoAdjust="0"/>
    <p:restoredTop sz="97508" autoAdjust="0"/>
  </p:normalViewPr>
  <p:slideViewPr>
    <p:cSldViewPr snapToGrid="0">
      <p:cViewPr varScale="1">
        <p:scale>
          <a:sx n="81" d="100"/>
          <a:sy n="81" d="100"/>
        </p:scale>
        <p:origin x="84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60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39514-A94F-4E23-A310-038E53FAA04A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B1870-099E-441E-B126-FA960B17E2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9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B1870-099E-441E-B126-FA960B17E2A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880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B1870-099E-441E-B126-FA960B17E2A0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38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8B1870-099E-441E-B126-FA960B17E2A0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30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92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7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3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4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1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27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19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2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8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2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6300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46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5601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70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59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6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E5C82-598D-4AE0-8D47-B06131F541F7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494E305-DCD0-4AD5-876B-E5C63B0F7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9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numbers" TargetMode="External"/><Relationship Id="rId2" Type="http://schemas.openxmlformats.org/officeDocument/2006/relationships/hyperlink" Target="https://www.programiz.com/python-programming/st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rogramiz.com/python-programming/tuple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308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059" y="1423447"/>
            <a:ext cx="9711768" cy="4890856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Lists are used to store multiple items in a single variable.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In Python programming, a list is created by placing all the items (elements) inside square brackets</a:t>
            </a:r>
            <a:r>
              <a:rPr lang="en-US" dirty="0">
                <a:solidFill>
                  <a:srgbClr val="FF0000"/>
                </a:solidFill>
              </a:rPr>
              <a:t> [], </a:t>
            </a:r>
            <a:r>
              <a:rPr lang="en-US" dirty="0"/>
              <a:t>separated by commas.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It can have any number of items and they may be of different types (integer, float, string etc.).</a:t>
            </a:r>
          </a:p>
          <a:p>
            <a:pPr marL="0" indent="0">
              <a:buNone/>
            </a:pPr>
            <a:r>
              <a:rPr lang="en-US" dirty="0"/>
              <a:t># empty list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my_list</a:t>
            </a:r>
            <a:r>
              <a:rPr lang="en-US" dirty="0">
                <a:solidFill>
                  <a:srgbClr val="FF0000"/>
                </a:solidFill>
              </a:rPr>
              <a:t> = []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list of integers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my_list</a:t>
            </a:r>
            <a:r>
              <a:rPr lang="en-US" dirty="0">
                <a:solidFill>
                  <a:srgbClr val="FF0000"/>
                </a:solidFill>
              </a:rPr>
              <a:t> = [1, 2, 3]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list with mixed data types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my_list</a:t>
            </a:r>
            <a:r>
              <a:rPr lang="en-US" dirty="0">
                <a:solidFill>
                  <a:srgbClr val="FF0000"/>
                </a:solidFill>
              </a:rPr>
              <a:t> = [1, "Hello", 3.4]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490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9C7B-9011-41F1-4D31-46B3DA4A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548EEF-1F67-1AC2-7736-DAB3B0A67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5567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"/>
            <a:ext cx="8596668" cy="66726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#multiple </a:t>
            </a:r>
            <a:r>
              <a:rPr lang="en-US" dirty="0" err="1">
                <a:solidFill>
                  <a:srgbClr val="FF0000"/>
                </a:solidFill>
              </a:rPr>
              <a:t>datatype</a:t>
            </a:r>
            <a:r>
              <a:rPr lang="en-US" dirty="0">
                <a:solidFill>
                  <a:srgbClr val="FF0000"/>
                </a:solidFill>
              </a:rPr>
              <a:t> assign</a:t>
            </a:r>
          </a:p>
          <a:p>
            <a:pPr marL="0" indent="0">
              <a:buNone/>
            </a:pPr>
            <a:r>
              <a:rPr lang="en-US" dirty="0" err="1"/>
              <a:t>n_list</a:t>
            </a:r>
            <a:r>
              <a:rPr lang="en-US" dirty="0"/>
              <a:t>=[2.9,3000,'Hello',"Welcome to python list ", True]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n_list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Nested List Example1</a:t>
            </a:r>
          </a:p>
          <a:p>
            <a:pPr marL="0" indent="0">
              <a:buNone/>
            </a:pPr>
            <a:r>
              <a:rPr lang="en-US" dirty="0" err="1"/>
              <a:t>n_list</a:t>
            </a:r>
            <a:r>
              <a:rPr lang="en-US" dirty="0"/>
              <a:t> = ["Happy", [2, 0, 1, 5]]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Nested indexing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n_list</a:t>
            </a:r>
            <a:r>
              <a:rPr lang="en-US" dirty="0"/>
              <a:t>[0][3])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n_list</a:t>
            </a:r>
            <a:r>
              <a:rPr lang="en-US" dirty="0"/>
              <a:t>[1][2])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Nested List Example2</a:t>
            </a:r>
          </a:p>
          <a:p>
            <a:pPr marL="0" indent="0">
              <a:buNone/>
            </a:pPr>
            <a:r>
              <a:rPr lang="en-US" dirty="0" err="1"/>
              <a:t>my_list</a:t>
            </a:r>
            <a:r>
              <a:rPr lang="en-US" dirty="0"/>
              <a:t> = ["mouse", [8, 4, 6], ['</a:t>
            </a:r>
            <a:r>
              <a:rPr lang="en-US" dirty="0" err="1"/>
              <a:t>a','b','c</a:t>
            </a:r>
            <a:r>
              <a:rPr lang="en-US" dirty="0"/>
              <a:t>']]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my_list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my_list</a:t>
            </a:r>
            <a:r>
              <a:rPr lang="en-US" dirty="0"/>
              <a:t>[0])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Nested indexing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my_list</a:t>
            </a:r>
            <a:r>
              <a:rPr lang="en-US" dirty="0"/>
              <a:t>[1][1])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my_list</a:t>
            </a:r>
            <a:r>
              <a:rPr lang="en-US" dirty="0"/>
              <a:t>[2][2])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668" y="5195561"/>
            <a:ext cx="4794423" cy="1323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237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Negative indexing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183358" cy="443791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Python allows negative indexing for its sequences. The index of </a:t>
            </a:r>
            <a:r>
              <a:rPr lang="en-US" dirty="0">
                <a:solidFill>
                  <a:srgbClr val="FF0000"/>
                </a:solidFill>
              </a:rPr>
              <a:t>-1 </a:t>
            </a:r>
            <a:r>
              <a:rPr lang="en-US" dirty="0"/>
              <a:t>refers to the last item, </a:t>
            </a:r>
            <a:r>
              <a:rPr lang="en-US" dirty="0">
                <a:solidFill>
                  <a:srgbClr val="FF0000"/>
                </a:solidFill>
              </a:rPr>
              <a:t>-2 </a:t>
            </a:r>
            <a:r>
              <a:rPr lang="en-US" dirty="0"/>
              <a:t>to the second last item and so 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# Negative indexing in lists</a:t>
            </a:r>
          </a:p>
          <a:p>
            <a:pPr marL="0" indent="0">
              <a:buNone/>
            </a:pPr>
            <a:r>
              <a:rPr lang="en-US" dirty="0" err="1"/>
              <a:t>my_list</a:t>
            </a:r>
            <a:r>
              <a:rPr lang="en-US" dirty="0"/>
              <a:t> = ['</a:t>
            </a:r>
            <a:r>
              <a:rPr lang="en-US" dirty="0" err="1"/>
              <a:t>p','r','o','b','e</a:t>
            </a:r>
            <a:r>
              <a:rPr lang="en-US" dirty="0"/>
              <a:t>']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my_list</a:t>
            </a:r>
            <a:r>
              <a:rPr lang="en-US" dirty="0"/>
              <a:t>[-1])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my_list</a:t>
            </a:r>
            <a:r>
              <a:rPr lang="en-US" dirty="0"/>
              <a:t>[-5])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e</a:t>
            </a:r>
          </a:p>
          <a:p>
            <a:pPr marL="0" indent="0">
              <a:buNone/>
            </a:pPr>
            <a:r>
              <a:rPr lang="en-US" dirty="0"/>
              <a:t>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279" y="3126259"/>
            <a:ext cx="5498759" cy="1733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4695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 list using the append() method or add several items using extend() method.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# Appending and Extending lists in Python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odd = [1, 3, 5]</a:t>
            </a:r>
          </a:p>
          <a:p>
            <a:pPr marL="0" indent="0">
              <a:buNone/>
            </a:pPr>
            <a:r>
              <a:rPr lang="en-US" dirty="0" err="1"/>
              <a:t>odd.</a:t>
            </a:r>
            <a:r>
              <a:rPr lang="en-US" b="1" dirty="0" err="1"/>
              <a:t>append</a:t>
            </a:r>
            <a:r>
              <a:rPr lang="en-US" dirty="0"/>
              <a:t>(7)</a:t>
            </a:r>
          </a:p>
          <a:p>
            <a:pPr marL="0" indent="0">
              <a:buNone/>
            </a:pPr>
            <a:r>
              <a:rPr lang="en-US" dirty="0"/>
              <a:t>print(odd)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odd.</a:t>
            </a:r>
            <a:r>
              <a:rPr lang="en-US" b="1" dirty="0" err="1"/>
              <a:t>extend</a:t>
            </a:r>
            <a:r>
              <a:rPr lang="en-US" dirty="0"/>
              <a:t>([9, 11, 13])</a:t>
            </a:r>
          </a:p>
          <a:p>
            <a:pPr marL="0" indent="0">
              <a:buNone/>
            </a:pPr>
            <a:r>
              <a:rPr lang="en-US" dirty="0"/>
              <a:t>print(odd)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64" y="6055303"/>
            <a:ext cx="7608545" cy="802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9615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480" y="325395"/>
            <a:ext cx="8596668" cy="1320800"/>
          </a:xfrm>
        </p:spPr>
        <p:txBody>
          <a:bodyPr>
            <a:noAutofit/>
          </a:bodyPr>
          <a:lstStyle/>
          <a:p>
            <a:r>
              <a:rPr lang="en-US" sz="2400" dirty="0"/>
              <a:t>+ operator to combine two lists. </a:t>
            </a:r>
            <a:br>
              <a:rPr lang="en-US" sz="2400" dirty="0"/>
            </a:br>
            <a:r>
              <a:rPr lang="en-US" sz="2400" dirty="0"/>
              <a:t>* operator repeats a list for the given number of times.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# Concatenating and repeating lists</a:t>
            </a:r>
          </a:p>
          <a:p>
            <a:pPr marL="0" indent="0">
              <a:buNone/>
            </a:pPr>
            <a:r>
              <a:rPr lang="en-US" dirty="0"/>
              <a:t>odd = [1, 3, 5]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print(odd + [9, 7, 5])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print(["re"] * 3)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09" y="5613816"/>
            <a:ext cx="7611377" cy="1095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9383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0AE67-85A8-68B6-4292-E201E8A09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096C-1A6D-9BDF-3624-1584BAD6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Python-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4C6E5-0514-A488-41A7-CFB354272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Pop()</a:t>
            </a:r>
          </a:p>
          <a:p>
            <a:endParaRPr lang="en-US" sz="2400" dirty="0"/>
          </a:p>
          <a:p>
            <a:r>
              <a:rPr lang="en-US" sz="2400" dirty="0"/>
              <a:t>Del Operator</a:t>
            </a:r>
          </a:p>
          <a:p>
            <a:endParaRPr lang="en-US" sz="2400" dirty="0"/>
          </a:p>
          <a:p>
            <a:r>
              <a:rPr lang="en-US" sz="2400" dirty="0"/>
              <a:t>Remove()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2375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Length   &amp; Remove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059" y="1779373"/>
            <a:ext cx="9309127" cy="4683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thislist</a:t>
            </a:r>
            <a:r>
              <a:rPr lang="en-US" dirty="0"/>
              <a:t> = ["apple", "banana", "cherry"]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>
                <a:solidFill>
                  <a:srgbClr val="FF0000"/>
                </a:solidFill>
              </a:rPr>
              <a:t>len</a:t>
            </a:r>
            <a:r>
              <a:rPr lang="en-US" dirty="0"/>
              <a:t>(</a:t>
            </a:r>
            <a:r>
              <a:rPr lang="en-US" dirty="0" err="1"/>
              <a:t>thislist</a:t>
            </a:r>
            <a:r>
              <a:rPr lang="en-US" dirty="0"/>
              <a:t>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Remove Specified Item:</a:t>
            </a:r>
          </a:p>
          <a:p>
            <a:pPr marL="0" indent="0">
              <a:buNone/>
            </a:pPr>
            <a:r>
              <a:rPr lang="en-US" sz="2000" dirty="0" err="1"/>
              <a:t>thislist</a:t>
            </a:r>
            <a:r>
              <a:rPr lang="en-US" sz="2000" dirty="0"/>
              <a:t> = ["apple", "banana", "cherry"]</a:t>
            </a:r>
          </a:p>
          <a:p>
            <a:pPr marL="0" indent="0">
              <a:buNone/>
            </a:pPr>
            <a:r>
              <a:rPr lang="en-US" sz="2000" dirty="0" err="1"/>
              <a:t>thislist.remove</a:t>
            </a:r>
            <a:r>
              <a:rPr lang="en-US" sz="2000" dirty="0"/>
              <a:t>("banana")</a:t>
            </a:r>
          </a:p>
          <a:p>
            <a:pPr marL="0" indent="0">
              <a:buNone/>
            </a:pPr>
            <a:r>
              <a:rPr lang="en-US" sz="2000" dirty="0"/>
              <a:t>print(</a:t>
            </a:r>
            <a:r>
              <a:rPr lang="en-US" sz="2000" dirty="0" err="1"/>
              <a:t>thislist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Output:</a:t>
            </a:r>
          </a:p>
          <a:p>
            <a:pPr marL="0" indent="0">
              <a:buNone/>
            </a:pPr>
            <a:r>
              <a:rPr lang="en-US" sz="2000" dirty="0"/>
              <a:t>['apple', 'cherry']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697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912" y="0"/>
            <a:ext cx="8596668" cy="1320800"/>
          </a:xfrm>
        </p:spPr>
        <p:txBody>
          <a:bodyPr/>
          <a:lstStyle/>
          <a:p>
            <a:r>
              <a:rPr lang="en-US" dirty="0"/>
              <a:t>Python - Loop Lists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130" y="790833"/>
            <a:ext cx="9440562" cy="58200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dirty="0" err="1"/>
              <a:t>thislist</a:t>
            </a:r>
            <a:r>
              <a:rPr lang="en-US" sz="2100" dirty="0"/>
              <a:t> = ["apple", "banana", "cherry"]</a:t>
            </a:r>
          </a:p>
          <a:p>
            <a:pPr marL="0" indent="0">
              <a:buNone/>
            </a:pPr>
            <a:r>
              <a:rPr lang="en-US" sz="2100" dirty="0"/>
              <a:t>for x in </a:t>
            </a:r>
            <a:r>
              <a:rPr lang="en-US" sz="2100" dirty="0" err="1"/>
              <a:t>thislist</a:t>
            </a:r>
            <a:r>
              <a:rPr lang="en-US" sz="2100" dirty="0"/>
              <a:t>:</a:t>
            </a:r>
          </a:p>
          <a:p>
            <a:pPr marL="0" indent="0">
              <a:buNone/>
            </a:pPr>
            <a:r>
              <a:rPr lang="en-US" sz="2100" dirty="0"/>
              <a:t>print(x)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/>
              <a:t>Output:</a:t>
            </a:r>
          </a:p>
          <a:p>
            <a:pPr marL="0" indent="0">
              <a:buNone/>
            </a:pPr>
            <a:r>
              <a:rPr lang="en-US" sz="2100" dirty="0"/>
              <a:t>apple</a:t>
            </a:r>
            <a:br>
              <a:rPr lang="en-US" sz="2100" dirty="0"/>
            </a:br>
            <a:r>
              <a:rPr lang="en-US" sz="2100" dirty="0"/>
              <a:t>banana</a:t>
            </a:r>
            <a:br>
              <a:rPr lang="en-US" sz="2100" dirty="0"/>
            </a:br>
            <a:r>
              <a:rPr lang="en-US" sz="2100" dirty="0"/>
              <a:t>cherry</a:t>
            </a:r>
          </a:p>
          <a:p>
            <a:pPr marL="0" indent="0">
              <a:buNone/>
            </a:pPr>
            <a:endParaRPr lang="en-US" sz="29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900" dirty="0">
                <a:solidFill>
                  <a:schemeClr val="accent1">
                    <a:lumMod val="75000"/>
                  </a:schemeClr>
                </a:solidFill>
              </a:rPr>
              <a:t>Using a While Loop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 err="1">
                <a:solidFill>
                  <a:schemeClr val="tx1"/>
                </a:solidFill>
              </a:rPr>
              <a:t>thislist</a:t>
            </a:r>
            <a:r>
              <a:rPr lang="en-US" sz="2400" dirty="0">
                <a:solidFill>
                  <a:schemeClr val="tx1"/>
                </a:solidFill>
              </a:rPr>
              <a:t> = ["apple", "banana", "cherry"]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i = 0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while i &lt; </a:t>
            </a:r>
            <a:r>
              <a:rPr lang="en-US" sz="2400" dirty="0" err="1">
                <a:solidFill>
                  <a:schemeClr val="tx1"/>
                </a:solidFill>
              </a:rPr>
              <a:t>len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thislist</a:t>
            </a:r>
            <a:r>
              <a:rPr lang="en-US" sz="2400" dirty="0">
                <a:solidFill>
                  <a:schemeClr val="tx1"/>
                </a:solidFill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print(</a:t>
            </a:r>
            <a:r>
              <a:rPr lang="en-US" sz="2400" dirty="0" err="1">
                <a:solidFill>
                  <a:schemeClr val="tx1"/>
                </a:solidFill>
              </a:rPr>
              <a:t>thislist</a:t>
            </a:r>
            <a:r>
              <a:rPr lang="en-US" sz="2400" dirty="0">
                <a:solidFill>
                  <a:schemeClr val="tx1"/>
                </a:solidFill>
              </a:rPr>
              <a:t>[i])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 i = i + 1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935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35" y="308447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dirty="0"/>
              <a:t>Python - Sort Lists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842" y="1629247"/>
            <a:ext cx="10177886" cy="49883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2000" dirty="0"/>
              <a:t>List objects have a 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sort()</a:t>
            </a:r>
            <a:r>
              <a:rPr lang="en-US" sz="2000" dirty="0"/>
              <a:t> method that will sort the list alphanumerically, ascending, by default: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dirty="0" err="1"/>
              <a:t>thislist</a:t>
            </a:r>
            <a:r>
              <a:rPr lang="en-US" dirty="0"/>
              <a:t> = ["orange", "mango", "kiwi", "pineapple", "banana"]</a:t>
            </a:r>
          </a:p>
          <a:p>
            <a:pPr marL="0" indent="0">
              <a:buNone/>
            </a:pPr>
            <a:r>
              <a:rPr lang="en-US" dirty="0" err="1"/>
              <a:t>thislist.</a:t>
            </a:r>
            <a:r>
              <a:rPr lang="en-US" b="1" dirty="0" err="1"/>
              <a:t>sort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thislist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Output:['banana', 'kiwi', 'mango', 'orange', 'pineapple']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thislist</a:t>
            </a:r>
            <a:r>
              <a:rPr lang="en-US" dirty="0"/>
              <a:t> = [100, 50, 65, 82, 23]</a:t>
            </a:r>
          </a:p>
          <a:p>
            <a:pPr marL="0" indent="0">
              <a:buNone/>
            </a:pPr>
            <a:r>
              <a:rPr lang="en-US" dirty="0" err="1"/>
              <a:t>thislist.</a:t>
            </a:r>
            <a:r>
              <a:rPr lang="en-US" b="1" dirty="0" err="1"/>
              <a:t>sort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thislist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Outpu</a:t>
            </a:r>
            <a:r>
              <a:rPr lang="en-US" dirty="0"/>
              <a:t>: [23, 50, 65, 82, 100]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08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978" y="33074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dirty="0"/>
              <a:t>Sort Descending</a:t>
            </a:r>
            <a:br>
              <a:rPr lang="en-US" dirty="0"/>
            </a:br>
            <a:r>
              <a:rPr lang="en-US" sz="2000" dirty="0"/>
              <a:t>To sort descending, use the keyword argument reverse = True: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5805"/>
            <a:ext cx="8596668" cy="491799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thislist</a:t>
            </a:r>
            <a:r>
              <a:rPr lang="en-US" dirty="0"/>
              <a:t> = ["orange", "mango", "kiwi", "pineapple", "banana"]</a:t>
            </a:r>
          </a:p>
          <a:p>
            <a:pPr marL="0" indent="0">
              <a:buNone/>
            </a:pPr>
            <a:r>
              <a:rPr lang="en-US" dirty="0" err="1"/>
              <a:t>thislist.</a:t>
            </a:r>
            <a:r>
              <a:rPr lang="en-US" b="1" dirty="0" err="1"/>
              <a:t>sort</a:t>
            </a:r>
            <a:r>
              <a:rPr lang="en-US" dirty="0"/>
              <a:t>(reverse = True)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thislist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Output:['pineapple', 'orange', 'mango', 'kiwi', 'banana']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thislist</a:t>
            </a:r>
            <a:r>
              <a:rPr lang="en-US" dirty="0"/>
              <a:t> = [100, 50, 65, 82, 23]</a:t>
            </a:r>
          </a:p>
          <a:p>
            <a:pPr marL="0" indent="0">
              <a:buNone/>
            </a:pPr>
            <a:r>
              <a:rPr lang="en-US" dirty="0" err="1"/>
              <a:t>thislist.</a:t>
            </a:r>
            <a:r>
              <a:rPr lang="en-US" b="1" dirty="0" err="1"/>
              <a:t>sort</a:t>
            </a:r>
            <a:r>
              <a:rPr lang="en-US" dirty="0"/>
              <a:t>(reverse = True)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thislist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Output:[100, 82, 65, 50, 23]</a:t>
            </a:r>
          </a:p>
        </p:txBody>
      </p:sp>
    </p:spTree>
    <p:extLst>
      <p:ext uri="{BB962C8B-B14F-4D97-AF65-F5344CB8AC3E}">
        <p14:creationId xmlns:p14="http://schemas.microsoft.com/office/powerpoint/2010/main" val="165060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- Copy Lists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557" y="1668162"/>
            <a:ext cx="8804445" cy="501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thislist</a:t>
            </a:r>
            <a:r>
              <a:rPr lang="en-US" dirty="0"/>
              <a:t> = ["apple", "banana", "cherry"]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mylist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thislist.copy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mylist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Output:['apple', 'banana', 'cherry']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Another way to make a copy is to use the built-in method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list().</a:t>
            </a:r>
          </a:p>
          <a:p>
            <a:pPr marL="0" indent="0">
              <a:buNone/>
            </a:pPr>
            <a:r>
              <a:rPr lang="en-US" dirty="0"/>
              <a:t>Make a copy of a list with the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list()</a:t>
            </a:r>
            <a:r>
              <a:rPr lang="en-US" dirty="0"/>
              <a:t> method: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thislist</a:t>
            </a:r>
            <a:r>
              <a:rPr lang="en-US" dirty="0"/>
              <a:t> = ["apple", "banana", "cherry"]</a:t>
            </a:r>
            <a:br>
              <a:rPr lang="en-US" dirty="0"/>
            </a:br>
            <a:r>
              <a:rPr lang="en-US" dirty="0" err="1"/>
              <a:t>mylist</a:t>
            </a:r>
            <a:r>
              <a:rPr lang="en-US" dirty="0"/>
              <a:t> = list(</a:t>
            </a:r>
            <a:r>
              <a:rPr lang="en-US" dirty="0" err="1"/>
              <a:t>thislist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mylist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Output:</a:t>
            </a:r>
            <a:r>
              <a:rPr lang="en-US" dirty="0"/>
              <a:t>['apple', 'banana', 'cherry']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467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Python-insert()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fruits = ['apple', 'banana', 'cherry']</a:t>
            </a:r>
          </a:p>
          <a:p>
            <a:pPr marL="0" indent="0">
              <a:buNone/>
            </a:pPr>
            <a:r>
              <a:rPr lang="en-US" dirty="0" err="1"/>
              <a:t>fruits.</a:t>
            </a:r>
            <a:r>
              <a:rPr lang="en-US" b="1" dirty="0" err="1"/>
              <a:t>insert</a:t>
            </a:r>
            <a:r>
              <a:rPr lang="en-US" dirty="0"/>
              <a:t>(1, "orange")</a:t>
            </a:r>
          </a:p>
          <a:p>
            <a:pPr marL="0" indent="0">
              <a:buNone/>
            </a:pPr>
            <a:r>
              <a:rPr lang="en-US" dirty="0"/>
              <a:t>print(fruits)</a:t>
            </a:r>
          </a:p>
          <a:p>
            <a:pPr marL="0" indent="0">
              <a:buNone/>
            </a:pPr>
            <a:r>
              <a:rPr lang="en-US" dirty="0"/>
              <a:t>Output:['apple', 'orange', 'banana', 'cherry']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43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Specified Index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1730"/>
            <a:ext cx="8596668" cy="4819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 pop() method removes the specified index.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thislist</a:t>
            </a:r>
            <a:r>
              <a:rPr lang="en-US" dirty="0"/>
              <a:t> = ["apple", "banana", "cherry"]</a:t>
            </a:r>
            <a:br>
              <a:rPr lang="en-US" dirty="0"/>
            </a:br>
            <a:r>
              <a:rPr lang="en-US" dirty="0" err="1"/>
              <a:t>thislist.</a:t>
            </a:r>
            <a:r>
              <a:rPr lang="en-US" b="1" dirty="0" err="1"/>
              <a:t>pop</a:t>
            </a:r>
            <a:r>
              <a:rPr lang="en-US" dirty="0"/>
              <a:t>(1)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thislist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Output:['apple', 'cherry']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thislist</a:t>
            </a:r>
            <a:r>
              <a:rPr lang="en-US" dirty="0"/>
              <a:t> = ["apple", "banana", "cherry"]</a:t>
            </a:r>
          </a:p>
          <a:p>
            <a:pPr marL="0" indent="0">
              <a:buNone/>
            </a:pPr>
            <a:r>
              <a:rPr lang="en-US" dirty="0" err="1"/>
              <a:t>thislist.</a:t>
            </a:r>
            <a:r>
              <a:rPr lang="en-US" b="1" dirty="0" err="1"/>
              <a:t>pop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thislist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Output:['apple', 'banana']</a:t>
            </a:r>
          </a:p>
        </p:txBody>
      </p:sp>
    </p:spTree>
    <p:extLst>
      <p:ext uri="{BB962C8B-B14F-4D97-AF65-F5344CB8AC3E}">
        <p14:creationId xmlns:p14="http://schemas.microsoft.com/office/powerpoint/2010/main" val="264632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703" y="609600"/>
            <a:ext cx="9700053" cy="1320800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US" sz="3200" dirty="0"/>
              <a:t>del keyword also removes the specified index: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841" y="1371601"/>
            <a:ext cx="9576487" cy="54864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 err="1"/>
              <a:t>thislist</a:t>
            </a:r>
            <a:r>
              <a:rPr lang="en-US" sz="2100" dirty="0"/>
              <a:t> = ["apple", "banana", "cherry"]</a:t>
            </a:r>
          </a:p>
          <a:p>
            <a:pPr marL="0" indent="0">
              <a:buNone/>
            </a:pPr>
            <a:br>
              <a:rPr lang="en-US" sz="2100" dirty="0"/>
            </a:br>
            <a:r>
              <a:rPr lang="en-US" sz="2100" b="1" dirty="0">
                <a:solidFill>
                  <a:schemeClr val="tx1"/>
                </a:solidFill>
              </a:rPr>
              <a:t>del</a:t>
            </a:r>
            <a:r>
              <a:rPr lang="en-US" sz="2100" dirty="0"/>
              <a:t> </a:t>
            </a:r>
            <a:r>
              <a:rPr lang="en-US" sz="2100" dirty="0" err="1"/>
              <a:t>thislist</a:t>
            </a:r>
            <a:r>
              <a:rPr lang="en-US" sz="2100" dirty="0"/>
              <a:t>[0]</a:t>
            </a:r>
            <a:br>
              <a:rPr lang="en-US" sz="2100" dirty="0"/>
            </a:br>
            <a:r>
              <a:rPr lang="en-US" sz="2100" dirty="0"/>
              <a:t>print(</a:t>
            </a:r>
            <a:r>
              <a:rPr lang="en-US" sz="2100" dirty="0" err="1"/>
              <a:t>thislist</a:t>
            </a:r>
            <a:r>
              <a:rPr lang="en-US" sz="2100" dirty="0"/>
              <a:t>)</a:t>
            </a:r>
          </a:p>
          <a:p>
            <a:pPr marL="0" indent="0">
              <a:buNone/>
            </a:pPr>
            <a:r>
              <a:rPr lang="en-US" sz="2100" dirty="0"/>
              <a:t>Output: ['banana', 'cherry']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300" dirty="0">
                <a:solidFill>
                  <a:schemeClr val="accent1">
                    <a:lumMod val="75000"/>
                  </a:schemeClr>
                </a:solidFill>
              </a:rPr>
              <a:t>Clear the List</a:t>
            </a:r>
          </a:p>
          <a:p>
            <a:pPr marL="0" indent="0">
              <a:buNone/>
            </a:pPr>
            <a:r>
              <a:rPr lang="en-US" sz="2400" dirty="0"/>
              <a:t> Clear the list content:</a:t>
            </a:r>
          </a:p>
          <a:p>
            <a:pPr marL="0" indent="0">
              <a:buNone/>
            </a:pPr>
            <a:r>
              <a:rPr lang="en-US" sz="2400" dirty="0" err="1"/>
              <a:t>thislist</a:t>
            </a:r>
            <a:r>
              <a:rPr lang="en-US" sz="2400" dirty="0"/>
              <a:t> = ["apple", "banana", "cherry"]</a:t>
            </a:r>
            <a:br>
              <a:rPr lang="en-US" sz="2400" dirty="0"/>
            </a:br>
            <a:r>
              <a:rPr lang="en-US" sz="2400" dirty="0" err="1"/>
              <a:t>thislist.</a:t>
            </a:r>
            <a:r>
              <a:rPr lang="en-US" sz="2400" b="1" dirty="0" err="1">
                <a:solidFill>
                  <a:schemeClr val="tx1"/>
                </a:solidFill>
              </a:rPr>
              <a:t>clear</a:t>
            </a:r>
            <a:r>
              <a:rPr lang="en-US" sz="2400" b="1" dirty="0">
                <a:solidFill>
                  <a:schemeClr val="tx1"/>
                </a:solidFill>
              </a:rPr>
              <a:t>()</a:t>
            </a:r>
            <a:br>
              <a:rPr lang="en-US" sz="2400" dirty="0"/>
            </a:br>
            <a:r>
              <a:rPr lang="en-US" sz="2400" dirty="0"/>
              <a:t>print(</a:t>
            </a:r>
            <a:r>
              <a:rPr lang="en-US" sz="2400" dirty="0" err="1"/>
              <a:t>thislist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output: [ ]</a:t>
            </a:r>
          </a:p>
          <a:p>
            <a:endParaRPr lang="en-US" sz="2000" dirty="0"/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10530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 count() Method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536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fruits = ["apple", "banana", "</a:t>
            </a:r>
            <a:r>
              <a:rPr lang="en-US" dirty="0" err="1"/>
              <a:t>cherry","apple</a:t>
            </a:r>
            <a:r>
              <a:rPr lang="en-US" dirty="0"/>
              <a:t>"]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x = </a:t>
            </a:r>
            <a:r>
              <a:rPr lang="en-US" dirty="0" err="1"/>
              <a:t>fruits.</a:t>
            </a:r>
            <a:r>
              <a:rPr lang="en-US" b="1" dirty="0" err="1"/>
              <a:t>count</a:t>
            </a:r>
            <a:r>
              <a:rPr lang="en-US" dirty="0"/>
              <a:t>("apple")</a:t>
            </a:r>
          </a:p>
          <a:p>
            <a:pPr marL="0" indent="0">
              <a:buNone/>
            </a:pPr>
            <a:r>
              <a:rPr lang="en-US" dirty="0"/>
              <a:t>print(x)</a:t>
            </a:r>
          </a:p>
          <a:p>
            <a:pPr marL="0" indent="0">
              <a:buNone/>
            </a:pPr>
            <a:r>
              <a:rPr lang="en-US" dirty="0"/>
              <a:t>Output: 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fruits = [1, 4, 2, 9, 7, 8, 9, 3, 1]</a:t>
            </a:r>
          </a:p>
          <a:p>
            <a:pPr marL="0" indent="0">
              <a:buNone/>
            </a:pPr>
            <a:r>
              <a:rPr lang="en-US" dirty="0"/>
              <a:t>x = </a:t>
            </a:r>
            <a:r>
              <a:rPr lang="en-US" dirty="0" err="1"/>
              <a:t>fruits.</a:t>
            </a:r>
            <a:r>
              <a:rPr lang="en-US" b="1" dirty="0" err="1"/>
              <a:t>count</a:t>
            </a:r>
            <a:r>
              <a:rPr lang="en-US" dirty="0"/>
              <a:t>(9)</a:t>
            </a:r>
          </a:p>
          <a:p>
            <a:pPr marL="0" indent="0">
              <a:buNone/>
            </a:pPr>
            <a:r>
              <a:rPr lang="en-US" dirty="0"/>
              <a:t>print(x)</a:t>
            </a:r>
          </a:p>
          <a:p>
            <a:pPr marL="0" indent="0">
              <a:buNone/>
            </a:pPr>
            <a:r>
              <a:rPr lang="en-US" dirty="0"/>
              <a:t>Output: 2</a:t>
            </a:r>
          </a:p>
        </p:txBody>
      </p:sp>
    </p:spTree>
    <p:extLst>
      <p:ext uri="{BB962C8B-B14F-4D97-AF65-F5344CB8AC3E}">
        <p14:creationId xmlns:p14="http://schemas.microsoft.com/office/powerpoint/2010/main" val="2799988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40E0E-8195-9A9A-E36C-8C0AE6DC0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</a:rPr>
              <a:t>list copy() method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1ADD9-1CB7-2742-A90C-CC696C8F8267}"/>
              </a:ext>
            </a:extLst>
          </p:cNvPr>
          <p:cNvSpPr txBox="1"/>
          <p:nvPr/>
        </p:nvSpPr>
        <p:spPr>
          <a:xfrm>
            <a:off x="559114" y="2249056"/>
            <a:ext cx="80339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000" b="1" dirty="0">
                <a:latin typeface="Courier New" panose="02070309020205020404" pitchFamily="49" charset="0"/>
              </a:rPr>
              <a:t># Program to demonstrate</a:t>
            </a:r>
          </a:p>
          <a:p>
            <a:pPr rtl="0">
              <a:buNone/>
            </a:pPr>
            <a:endParaRPr lang="en-US" sz="2000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b="1" dirty="0" err="1">
                <a:latin typeface="Courier New" panose="02070309020205020404" pitchFamily="49" charset="0"/>
              </a:rPr>
              <a:t>lst</a:t>
            </a:r>
            <a:r>
              <a:rPr lang="en-US" sz="2000" b="1" dirty="0">
                <a:latin typeface="Courier New" panose="02070309020205020404" pitchFamily="49" charset="0"/>
              </a:rPr>
              <a:t> = [10, 20, 30, 40]</a:t>
            </a:r>
          </a:p>
          <a:p>
            <a:pPr rtl="0">
              <a:buNone/>
            </a:pPr>
            <a:endParaRPr lang="en-US" sz="2000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b="1" dirty="0">
                <a:latin typeface="Courier New" panose="02070309020205020404" pitchFamily="49" charset="0"/>
              </a:rPr>
              <a:t># Create a copy of the list</a:t>
            </a:r>
          </a:p>
          <a:p>
            <a:pPr rtl="0">
              <a:buNone/>
            </a:pPr>
            <a:r>
              <a:rPr lang="en-US" sz="2000" b="1" dirty="0" err="1">
                <a:latin typeface="Courier New" panose="02070309020205020404" pitchFamily="49" charset="0"/>
              </a:rPr>
              <a:t>new_lst</a:t>
            </a:r>
            <a:r>
              <a:rPr lang="en-US" sz="2000" b="1" dirty="0">
                <a:latin typeface="Courier New" panose="02070309020205020404" pitchFamily="49" charset="0"/>
              </a:rPr>
              <a:t> = </a:t>
            </a:r>
            <a:r>
              <a:rPr lang="en-US" sz="2000" b="1" dirty="0" err="1">
                <a:latin typeface="Courier New" panose="02070309020205020404" pitchFamily="49" charset="0"/>
              </a:rPr>
              <a:t>lst.copy</a:t>
            </a:r>
            <a:r>
              <a:rPr lang="en-US" sz="2000" b="1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endParaRPr lang="en-US" sz="2000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b="1" dirty="0">
                <a:latin typeface="Courier New" panose="02070309020205020404" pitchFamily="49" charset="0"/>
              </a:rPr>
              <a:t>print("Original List :", </a:t>
            </a:r>
            <a:r>
              <a:rPr lang="en-US" sz="2000" b="1" dirty="0" err="1">
                <a:latin typeface="Courier New" panose="02070309020205020404" pitchFamily="49" charset="0"/>
              </a:rPr>
              <a:t>lst</a:t>
            </a:r>
            <a:r>
              <a:rPr lang="en-US" sz="2000" b="1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US" sz="2000" b="1" dirty="0">
                <a:latin typeface="Courier New" panose="02070309020205020404" pitchFamily="49" charset="0"/>
              </a:rPr>
              <a:t>print("Copied List   :", </a:t>
            </a:r>
            <a:r>
              <a:rPr lang="en-US" sz="2000" b="1" dirty="0" err="1">
                <a:latin typeface="Courier New" panose="02070309020205020404" pitchFamily="49" charset="0"/>
              </a:rPr>
              <a:t>new_lst</a:t>
            </a:r>
            <a:r>
              <a:rPr lang="en-US" sz="2000" b="1" dirty="0"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947ABC-9DAC-1A70-6253-44A2154E6C37}"/>
              </a:ext>
            </a:extLst>
          </p:cNvPr>
          <p:cNvSpPr txBox="1"/>
          <p:nvPr/>
        </p:nvSpPr>
        <p:spPr>
          <a:xfrm>
            <a:off x="2489252" y="5521452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Original List : [10, 20, 30, 40] </a:t>
            </a:r>
          </a:p>
          <a:p>
            <a:pPr>
              <a:buNone/>
            </a:pPr>
            <a:r>
              <a:rPr lang="en-IN" dirty="0"/>
              <a:t>Copied List : [10, 20, 30, 40]</a:t>
            </a:r>
          </a:p>
        </p:txBody>
      </p:sp>
    </p:spTree>
    <p:extLst>
      <p:ext uri="{BB962C8B-B14F-4D97-AF65-F5344CB8AC3E}">
        <p14:creationId xmlns:p14="http://schemas.microsoft.com/office/powerpoint/2010/main" val="2998865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FFB2-E840-A2A0-1D16-62108EA7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index()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10C1E-11DB-34D4-2914-82DDD98CDF60}"/>
              </a:ext>
            </a:extLst>
          </p:cNvPr>
          <p:cNvSpPr txBox="1"/>
          <p:nvPr/>
        </p:nvSpPr>
        <p:spPr>
          <a:xfrm>
            <a:off x="1185420" y="2290961"/>
            <a:ext cx="80885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/>
              <a:t>lst</a:t>
            </a:r>
            <a:r>
              <a:rPr lang="en-IN" sz="2400" dirty="0"/>
              <a:t> = [10, 20, 30, 40, 50]</a:t>
            </a:r>
          </a:p>
          <a:p>
            <a:endParaRPr lang="en-IN" sz="2400" dirty="0"/>
          </a:p>
          <a:p>
            <a:r>
              <a:rPr lang="en-IN" sz="2400" dirty="0"/>
              <a:t>value = 30</a:t>
            </a:r>
          </a:p>
          <a:p>
            <a:endParaRPr lang="en-IN" sz="2400" dirty="0"/>
          </a:p>
          <a:p>
            <a:r>
              <a:rPr lang="en-IN" sz="2400" dirty="0"/>
              <a:t>position = </a:t>
            </a:r>
            <a:r>
              <a:rPr lang="en-IN" sz="2400" dirty="0" err="1"/>
              <a:t>lst.</a:t>
            </a:r>
            <a:r>
              <a:rPr lang="en-IN" sz="2400" b="1" dirty="0" err="1"/>
              <a:t>index</a:t>
            </a:r>
            <a:r>
              <a:rPr lang="en-IN" sz="2400" dirty="0"/>
              <a:t>(value)</a:t>
            </a:r>
          </a:p>
          <a:p>
            <a:endParaRPr lang="en-IN" sz="2400" dirty="0"/>
          </a:p>
          <a:p>
            <a:r>
              <a:rPr lang="en-IN" sz="2400" dirty="0"/>
              <a:t>print("List     :", </a:t>
            </a:r>
            <a:r>
              <a:rPr lang="en-IN" sz="2400" dirty="0" err="1"/>
              <a:t>lst</a:t>
            </a:r>
            <a:r>
              <a:rPr lang="en-IN" sz="2400" dirty="0"/>
              <a:t>)</a:t>
            </a:r>
          </a:p>
          <a:p>
            <a:r>
              <a:rPr lang="en-IN" sz="2400" dirty="0"/>
              <a:t>print("Value    :", value)</a:t>
            </a:r>
          </a:p>
          <a:p>
            <a:r>
              <a:rPr lang="en-IN" sz="2400" dirty="0"/>
              <a:t>print("Index    :", position</a:t>
            </a:r>
            <a:r>
              <a:rPr lang="en-IN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AF5F5-F9CD-EE62-5039-7B1A00D843C3}"/>
              </a:ext>
            </a:extLst>
          </p:cNvPr>
          <p:cNvSpPr txBox="1"/>
          <p:nvPr/>
        </p:nvSpPr>
        <p:spPr>
          <a:xfrm>
            <a:off x="5738567" y="5854293"/>
            <a:ext cx="6103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List : [10, 20, 30, 40, 50] </a:t>
            </a:r>
          </a:p>
          <a:p>
            <a:pPr>
              <a:buNone/>
            </a:pPr>
            <a:r>
              <a:rPr lang="en-US" dirty="0"/>
              <a:t>Value : 30 </a:t>
            </a:r>
          </a:p>
          <a:p>
            <a:pPr>
              <a:buNone/>
            </a:pPr>
            <a:r>
              <a:rPr lang="en-US" dirty="0"/>
              <a:t>Index : 2</a:t>
            </a:r>
          </a:p>
        </p:txBody>
      </p:sp>
    </p:spTree>
    <p:extLst>
      <p:ext uri="{BB962C8B-B14F-4D97-AF65-F5344CB8AC3E}">
        <p14:creationId xmlns:p14="http://schemas.microsoft.com/office/powerpoint/2010/main" val="740838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Python-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Pop()</a:t>
            </a:r>
          </a:p>
          <a:p>
            <a:endParaRPr lang="en-US" sz="2400" dirty="0"/>
          </a:p>
          <a:p>
            <a:r>
              <a:rPr lang="en-US" sz="2400" dirty="0"/>
              <a:t>Del Operator</a:t>
            </a:r>
          </a:p>
          <a:p>
            <a:endParaRPr lang="en-US" sz="2400" dirty="0"/>
          </a:p>
          <a:p>
            <a:r>
              <a:rPr lang="en-US" sz="2400" dirty="0"/>
              <a:t>Remove()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3286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Python- pop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65301"/>
            <a:ext cx="8596668" cy="4276062"/>
          </a:xfrm>
        </p:spPr>
        <p:txBody>
          <a:bodyPr/>
          <a:lstStyle/>
          <a:p>
            <a:endParaRPr lang="fr-FR" dirty="0"/>
          </a:p>
          <a:p>
            <a:r>
              <a:rPr lang="en-US" sz="2000" dirty="0"/>
              <a:t>index of the element you want, you can use </a:t>
            </a:r>
            <a:r>
              <a:rPr lang="en-US" sz="2000" dirty="0">
                <a:solidFill>
                  <a:srgbClr val="FF0000"/>
                </a:solidFill>
              </a:rPr>
              <a:t>pop</a:t>
            </a:r>
            <a:r>
              <a:rPr lang="en-US" sz="2000" dirty="0"/>
              <a:t>:</a:t>
            </a:r>
          </a:p>
          <a:p>
            <a:endParaRPr lang="fr-FR" sz="2000" dirty="0"/>
          </a:p>
          <a:p>
            <a:pPr marL="0" indent="0">
              <a:buNone/>
            </a:pPr>
            <a:r>
              <a:rPr lang="fr-FR" sz="2000" dirty="0"/>
              <a:t>&gt;&gt;&gt; t = ['a', 'b', 'c']</a:t>
            </a:r>
          </a:p>
          <a:p>
            <a:pPr marL="0" indent="0">
              <a:buNone/>
            </a:pPr>
            <a:r>
              <a:rPr lang="fr-FR" sz="2000" dirty="0"/>
              <a:t>&gt;&gt;&gt; x = </a:t>
            </a:r>
            <a:r>
              <a:rPr lang="fr-FR" sz="2000" dirty="0" err="1"/>
              <a:t>t.pop</a:t>
            </a:r>
            <a:r>
              <a:rPr lang="fr-FR" sz="2000" dirty="0"/>
              <a:t>(1)</a:t>
            </a:r>
          </a:p>
          <a:p>
            <a:pPr marL="0" indent="0">
              <a:buNone/>
            </a:pPr>
            <a:r>
              <a:rPr lang="fr-FR" sz="2000" dirty="0"/>
              <a:t>&gt;&gt;&gt; </a:t>
            </a:r>
            <a:r>
              <a:rPr lang="fr-FR" sz="2000" dirty="0" err="1"/>
              <a:t>print</a:t>
            </a:r>
            <a:r>
              <a:rPr lang="fr-FR" sz="2000" dirty="0"/>
              <a:t> (t)</a:t>
            </a:r>
          </a:p>
          <a:p>
            <a:pPr marL="0" indent="0">
              <a:buNone/>
            </a:pPr>
            <a:r>
              <a:rPr lang="fr-FR" sz="2000" dirty="0"/>
              <a:t>['a', 'c']</a:t>
            </a:r>
          </a:p>
          <a:p>
            <a:pPr marL="0" indent="0">
              <a:buNone/>
            </a:pPr>
            <a:r>
              <a:rPr lang="fr-FR" sz="2000" dirty="0"/>
              <a:t>&gt;&gt;&gt; </a:t>
            </a:r>
            <a:r>
              <a:rPr lang="fr-FR" sz="2000" dirty="0" err="1"/>
              <a:t>print</a:t>
            </a:r>
            <a:r>
              <a:rPr lang="fr-FR" sz="2000" dirty="0"/>
              <a:t> (x)</a:t>
            </a:r>
          </a:p>
          <a:p>
            <a:pPr marL="0" indent="0">
              <a:buNone/>
            </a:pPr>
            <a:r>
              <a:rPr lang="fr-FR" sz="2000" dirty="0"/>
              <a:t>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130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– del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&gt;&gt;&gt; t = ['a', 'b', 'c']</a:t>
            </a:r>
          </a:p>
          <a:p>
            <a:pPr marL="0" indent="0">
              <a:buNone/>
            </a:pPr>
            <a:r>
              <a:rPr lang="fr-FR" sz="2400" dirty="0"/>
              <a:t>&gt;&gt;&gt; </a:t>
            </a:r>
            <a:r>
              <a:rPr lang="fr-FR" sz="2400" dirty="0" err="1">
                <a:solidFill>
                  <a:srgbClr val="FF0000"/>
                </a:solidFill>
              </a:rPr>
              <a:t>del</a:t>
            </a:r>
            <a:r>
              <a:rPr lang="fr-FR" sz="2400" dirty="0">
                <a:solidFill>
                  <a:srgbClr val="FF0000"/>
                </a:solidFill>
              </a:rPr>
              <a:t> t[1]</a:t>
            </a:r>
          </a:p>
          <a:p>
            <a:pPr marL="0" indent="0">
              <a:buNone/>
            </a:pPr>
            <a:r>
              <a:rPr lang="fr-FR" sz="2400" dirty="0"/>
              <a:t>&gt;&gt;&gt; </a:t>
            </a:r>
            <a:r>
              <a:rPr lang="fr-FR" sz="2400" dirty="0" err="1"/>
              <a:t>print</a:t>
            </a:r>
            <a:r>
              <a:rPr lang="fr-FR" sz="2400" dirty="0"/>
              <a:t> (t)</a:t>
            </a:r>
          </a:p>
          <a:p>
            <a:pPr marL="0" indent="0">
              <a:buNone/>
            </a:pPr>
            <a:r>
              <a:rPr lang="fr-FR" sz="2400" dirty="0"/>
              <a:t>['a', 'c']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716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Python- remove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793" y="2160589"/>
            <a:ext cx="9353863" cy="4315162"/>
          </a:xfrm>
        </p:spPr>
        <p:txBody>
          <a:bodyPr>
            <a:normAutofit/>
          </a:bodyPr>
          <a:lstStyle/>
          <a:p>
            <a:r>
              <a:rPr lang="en-US" sz="2400" dirty="0"/>
              <a:t>the element you want to </a:t>
            </a:r>
            <a:r>
              <a:rPr lang="en-US" sz="2400" dirty="0">
                <a:solidFill>
                  <a:srgbClr val="FF0000"/>
                </a:solidFill>
              </a:rPr>
              <a:t>remove</a:t>
            </a:r>
            <a:r>
              <a:rPr lang="en-US" sz="2400" dirty="0"/>
              <a:t> (but not the index), you can use </a:t>
            </a:r>
            <a:r>
              <a:rPr lang="en-US" sz="2400" dirty="0">
                <a:solidFill>
                  <a:srgbClr val="FF0000"/>
                </a:solidFill>
              </a:rPr>
              <a:t>remove</a:t>
            </a:r>
            <a:r>
              <a:rPr lang="en-US" sz="2400" dirty="0"/>
              <a:t>: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400" dirty="0"/>
              <a:t>&gt;&gt;&gt; t = ['a', 'b', 'c']</a:t>
            </a:r>
          </a:p>
          <a:p>
            <a:pPr marL="0" indent="0">
              <a:buNone/>
            </a:pPr>
            <a:r>
              <a:rPr lang="en-US" sz="2400" dirty="0"/>
              <a:t>&gt;&gt;&gt; </a:t>
            </a:r>
            <a:r>
              <a:rPr lang="en-US" sz="2400" dirty="0" err="1">
                <a:solidFill>
                  <a:srgbClr val="FF0000"/>
                </a:solidFill>
              </a:rPr>
              <a:t>t.remove</a:t>
            </a:r>
            <a:r>
              <a:rPr lang="en-US" sz="2400" dirty="0">
                <a:solidFill>
                  <a:srgbClr val="FF0000"/>
                </a:solidFill>
              </a:rPr>
              <a:t>('b')</a:t>
            </a:r>
          </a:p>
          <a:p>
            <a:pPr marL="0" indent="0">
              <a:buNone/>
            </a:pPr>
            <a:r>
              <a:rPr lang="en-US" sz="2400" dirty="0"/>
              <a:t>&gt;&gt;&gt; print (t)</a:t>
            </a:r>
          </a:p>
          <a:p>
            <a:pPr marL="0" indent="0">
              <a:buNone/>
            </a:pPr>
            <a:r>
              <a:rPr lang="en-US" sz="2400" dirty="0"/>
              <a:t>['a', 'c']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08423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Python- remove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677" y="2145599"/>
            <a:ext cx="9458794" cy="4315162"/>
          </a:xfrm>
        </p:spPr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sz="2000" dirty="0"/>
              <a:t>the element you want to remove (but not the index),use </a:t>
            </a:r>
            <a:r>
              <a:rPr lang="en-US" sz="2000" dirty="0">
                <a:solidFill>
                  <a:srgbClr val="FF0000"/>
                </a:solidFill>
              </a:rPr>
              <a:t>remove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&gt;&gt;&gt; t = ['a', 'b', 'c']</a:t>
            </a:r>
          </a:p>
          <a:p>
            <a:pPr marL="0" indent="0">
              <a:buNone/>
            </a:pPr>
            <a:r>
              <a:rPr lang="en-US" sz="2400" dirty="0"/>
              <a:t>&gt;&gt;&gt; </a:t>
            </a:r>
            <a:r>
              <a:rPr lang="en-US" sz="2400" dirty="0" err="1">
                <a:solidFill>
                  <a:srgbClr val="FF0000"/>
                </a:solidFill>
              </a:rPr>
              <a:t>t.remove</a:t>
            </a:r>
            <a:r>
              <a:rPr lang="en-US" sz="2400" dirty="0">
                <a:solidFill>
                  <a:srgbClr val="FF0000"/>
                </a:solidFill>
              </a:rPr>
              <a:t>('b')</a:t>
            </a:r>
          </a:p>
          <a:p>
            <a:pPr marL="0" indent="0">
              <a:buNone/>
            </a:pPr>
            <a:r>
              <a:rPr lang="en-US" sz="2400" dirty="0"/>
              <a:t>&gt;&gt;&gt; print t</a:t>
            </a:r>
          </a:p>
          <a:p>
            <a:pPr marL="0" indent="0">
              <a:buNone/>
            </a:pPr>
            <a:r>
              <a:rPr lang="en-US" sz="2400" dirty="0"/>
              <a:t>['a', 'c']</a:t>
            </a:r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8575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Python- remove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862" y="1930400"/>
            <a:ext cx="9803568" cy="4315162"/>
          </a:xfrm>
        </p:spPr>
        <p:txBody>
          <a:bodyPr>
            <a:normAutofit/>
          </a:bodyPr>
          <a:lstStyle/>
          <a:p>
            <a:r>
              <a:rPr lang="en-US" sz="2400" dirty="0"/>
              <a:t> To </a:t>
            </a:r>
            <a:r>
              <a:rPr lang="en-US" sz="2400" dirty="0">
                <a:solidFill>
                  <a:srgbClr val="FF0000"/>
                </a:solidFill>
              </a:rPr>
              <a:t>remove</a:t>
            </a:r>
            <a:r>
              <a:rPr lang="en-US" sz="2400" dirty="0"/>
              <a:t> more than one element,  use del with a slice index: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fr-FR" sz="2800" dirty="0"/>
              <a:t>&gt;&gt;&gt; t = ['a', 'b', 'c', 'd', 'e', 'f']</a:t>
            </a:r>
          </a:p>
          <a:p>
            <a:pPr marL="0" indent="0">
              <a:buNone/>
            </a:pPr>
            <a:r>
              <a:rPr lang="fr-FR" sz="2800" dirty="0"/>
              <a:t>&gt;&gt;&gt; </a:t>
            </a:r>
            <a:r>
              <a:rPr lang="fr-FR" sz="2800" dirty="0" err="1">
                <a:solidFill>
                  <a:srgbClr val="FF0000"/>
                </a:solidFill>
              </a:rPr>
              <a:t>del</a:t>
            </a:r>
            <a:r>
              <a:rPr lang="fr-FR" sz="2800" dirty="0">
                <a:solidFill>
                  <a:srgbClr val="FF0000"/>
                </a:solidFill>
              </a:rPr>
              <a:t> t[1:5]</a:t>
            </a:r>
          </a:p>
          <a:p>
            <a:pPr marL="0" indent="0">
              <a:buNone/>
            </a:pPr>
            <a:r>
              <a:rPr lang="fr-FR" sz="2800" dirty="0"/>
              <a:t>&gt;&gt;&gt; </a:t>
            </a:r>
            <a:r>
              <a:rPr lang="fr-FR" sz="2800" dirty="0" err="1"/>
              <a:t>print</a:t>
            </a:r>
            <a:r>
              <a:rPr lang="fr-FR" sz="2800" dirty="0"/>
              <a:t> (t)</a:t>
            </a:r>
          </a:p>
          <a:p>
            <a:pPr marL="0" indent="0">
              <a:buNone/>
            </a:pPr>
            <a:r>
              <a:rPr lang="fr-FR" sz="2800" dirty="0"/>
              <a:t>['a', 'f']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10209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49836"/>
            <a:ext cx="8596668" cy="1320800"/>
          </a:xfrm>
        </p:spPr>
        <p:txBody>
          <a:bodyPr/>
          <a:lstStyle/>
          <a:p>
            <a:r>
              <a:rPr lang="en-US" dirty="0"/>
              <a:t>Python – list - Built-in-function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675" y="1830805"/>
            <a:ext cx="8944219" cy="4315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nums</a:t>
            </a:r>
            <a:r>
              <a:rPr lang="en-US" dirty="0"/>
              <a:t> = [3, 41, 12, 9, 74, 15]</a:t>
            </a:r>
          </a:p>
          <a:p>
            <a:pPr marL="0" indent="0">
              <a:buNone/>
            </a:pPr>
            <a:r>
              <a:rPr lang="en-US" dirty="0"/>
              <a:t>&gt;&gt;&gt; print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6</a:t>
            </a:r>
          </a:p>
          <a:p>
            <a:pPr marL="0" indent="0">
              <a:buNone/>
            </a:pPr>
            <a:r>
              <a:rPr lang="en-US" dirty="0"/>
              <a:t>&gt;&gt;&gt; print max(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74</a:t>
            </a:r>
          </a:p>
          <a:p>
            <a:pPr marL="0" indent="0">
              <a:buNone/>
            </a:pPr>
            <a:r>
              <a:rPr lang="en-US" dirty="0"/>
              <a:t>&gt;&gt;&gt; print min(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&gt;&gt;&gt; print sum(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154</a:t>
            </a:r>
          </a:p>
          <a:p>
            <a:pPr marL="0" indent="0">
              <a:buNone/>
            </a:pPr>
            <a:r>
              <a:rPr lang="en-US" dirty="0"/>
              <a:t>&gt;&gt;&gt; print sum(</a:t>
            </a:r>
            <a:r>
              <a:rPr lang="en-US" dirty="0" err="1"/>
              <a:t>nums</a:t>
            </a:r>
            <a:r>
              <a:rPr lang="en-US" dirty="0"/>
              <a:t>)/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17564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Python-List and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046" y="1723869"/>
            <a:ext cx="9503443" cy="4347473"/>
          </a:xfrm>
        </p:spPr>
        <p:txBody>
          <a:bodyPr>
            <a:normAutofit/>
          </a:bodyPr>
          <a:lstStyle/>
          <a:p>
            <a:r>
              <a:rPr lang="en-US" sz="2400" dirty="0"/>
              <a:t>To convert from a string to a list of characters, you can use list: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800" dirty="0"/>
              <a:t>&gt;&gt;&gt; s = 'spam'</a:t>
            </a:r>
          </a:p>
          <a:p>
            <a:pPr marL="0" indent="0">
              <a:buNone/>
            </a:pPr>
            <a:r>
              <a:rPr lang="en-US" sz="2800" dirty="0"/>
              <a:t>&gt;&gt;&gt; t = list(s)</a:t>
            </a:r>
          </a:p>
          <a:p>
            <a:pPr marL="0" indent="0">
              <a:buNone/>
            </a:pPr>
            <a:r>
              <a:rPr lang="en-US" sz="2800" dirty="0"/>
              <a:t>&gt;&gt;&gt; print (t)</a:t>
            </a:r>
          </a:p>
          <a:p>
            <a:pPr marL="0" indent="0">
              <a:buNone/>
            </a:pPr>
            <a:r>
              <a:rPr lang="en-US" sz="2800" dirty="0"/>
              <a:t>['s', 'p', 'a', 'm']</a:t>
            </a:r>
          </a:p>
        </p:txBody>
      </p:sp>
      <p:pic>
        <p:nvPicPr>
          <p:cNvPr id="5" name="Picture 2" descr="C:\Users\eapl-15\Desktop\imgpsh_fullsize_ani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186" y="304209"/>
            <a:ext cx="2297373" cy="63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102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-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784" y="1930400"/>
            <a:ext cx="9563723" cy="388077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 break a string into words,  can use the </a:t>
            </a:r>
            <a:r>
              <a:rPr lang="en-US" sz="2400" dirty="0">
                <a:solidFill>
                  <a:srgbClr val="FF0000"/>
                </a:solidFill>
              </a:rPr>
              <a:t>split method: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&gt;&gt;&gt; s = 'pining for the fjords'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&gt;&gt;&gt; t = </a:t>
            </a:r>
            <a:r>
              <a:rPr lang="en-US" sz="2400" dirty="0" err="1">
                <a:solidFill>
                  <a:srgbClr val="FF0000"/>
                </a:solidFill>
              </a:rPr>
              <a:t>s.split</a:t>
            </a:r>
            <a:r>
              <a:rPr lang="en-US" sz="2400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&gt;&gt;&gt; print (t)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['pining', 'for', 'the', 'fjords']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&gt;&gt;&gt; print t[2]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the</a:t>
            </a:r>
          </a:p>
        </p:txBody>
      </p:sp>
      <p:pic>
        <p:nvPicPr>
          <p:cNvPr id="5" name="Picture 2" descr="C:\Users\eapl-15\Desktop\imgpsh_fullsize_ani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186" y="304209"/>
            <a:ext cx="2297373" cy="63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33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- uses a hyphen as a delimiter: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" dirty="0"/>
              <a:t>http://www.opentextbooks.org.hk/ditatopic/6750</a:t>
            </a:r>
          </a:p>
          <a:p>
            <a:pPr marL="0" indent="0">
              <a:buNone/>
            </a:pPr>
            <a:r>
              <a:rPr lang="en-US" sz="2400" dirty="0"/>
              <a:t>&gt;&gt;&gt; s = 'spam-spam-spam'</a:t>
            </a:r>
          </a:p>
          <a:p>
            <a:pPr marL="0" indent="0">
              <a:buNone/>
            </a:pPr>
            <a:r>
              <a:rPr lang="en-US" sz="2400" dirty="0"/>
              <a:t>&gt;&gt;&gt; delimiter = '-'</a:t>
            </a:r>
          </a:p>
          <a:p>
            <a:pPr marL="0" indent="0">
              <a:buNone/>
            </a:pPr>
            <a:r>
              <a:rPr lang="en-US" sz="2400" dirty="0"/>
              <a:t>&gt;&gt;&gt; </a:t>
            </a:r>
            <a:r>
              <a:rPr lang="en-US" sz="2400" dirty="0" err="1">
                <a:solidFill>
                  <a:srgbClr val="FF0000"/>
                </a:solidFill>
              </a:rPr>
              <a:t>s.split</a:t>
            </a:r>
            <a:r>
              <a:rPr lang="en-US" sz="2400" dirty="0">
                <a:solidFill>
                  <a:srgbClr val="FF0000"/>
                </a:solidFill>
              </a:rPr>
              <a:t>(delimiter)</a:t>
            </a:r>
          </a:p>
          <a:p>
            <a:pPr marL="0" indent="0">
              <a:buNone/>
            </a:pPr>
            <a:r>
              <a:rPr lang="en-US" sz="2400" dirty="0"/>
              <a:t>['spam', 'spam', 'spam']</a:t>
            </a:r>
          </a:p>
        </p:txBody>
      </p:sp>
    </p:spTree>
    <p:extLst>
      <p:ext uri="{BB962C8B-B14F-4D97-AF65-F5344CB8AC3E}">
        <p14:creationId xmlns:p14="http://schemas.microsoft.com/office/powerpoint/2010/main" val="627166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E53AF-24C3-C7FD-E790-8FE3CA6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E22D-14A9-6B1C-8705-1B83D44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9836"/>
            <a:ext cx="8596668" cy="1320800"/>
          </a:xfrm>
        </p:spPr>
        <p:txBody>
          <a:bodyPr/>
          <a:lstStyle/>
          <a:p>
            <a:r>
              <a:rPr lang="en-US" dirty="0"/>
              <a:t>Python – list - Built-in-function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1D3D8-8441-F313-FDDB-424C4EA0E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675" y="1830805"/>
            <a:ext cx="8944219" cy="4315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&gt;&gt;&gt; </a:t>
            </a:r>
            <a:r>
              <a:rPr lang="en-US" dirty="0" err="1"/>
              <a:t>nums</a:t>
            </a:r>
            <a:r>
              <a:rPr lang="en-US" dirty="0"/>
              <a:t> = [3, 41, 12, 9, 74, 15]</a:t>
            </a:r>
          </a:p>
          <a:p>
            <a:pPr marL="0" indent="0">
              <a:buNone/>
            </a:pPr>
            <a:r>
              <a:rPr lang="en-US" dirty="0"/>
              <a:t>&gt;&gt;&gt; print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6</a:t>
            </a:r>
          </a:p>
          <a:p>
            <a:pPr marL="0" indent="0">
              <a:buNone/>
            </a:pPr>
            <a:r>
              <a:rPr lang="en-US" dirty="0"/>
              <a:t>&gt;&gt;&gt; print max(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74</a:t>
            </a:r>
          </a:p>
          <a:p>
            <a:pPr marL="0" indent="0">
              <a:buNone/>
            </a:pPr>
            <a:r>
              <a:rPr lang="en-US" dirty="0"/>
              <a:t>&gt;&gt;&gt; print min(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&gt;&gt;&gt; print sum(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154</a:t>
            </a:r>
          </a:p>
          <a:p>
            <a:pPr marL="0" indent="0">
              <a:buNone/>
            </a:pPr>
            <a:r>
              <a:rPr lang="en-US" dirty="0"/>
              <a:t>&gt;&gt;&gt; print sum(</a:t>
            </a:r>
            <a:r>
              <a:rPr lang="en-US" dirty="0" err="1"/>
              <a:t>nums</a:t>
            </a:r>
            <a:r>
              <a:rPr lang="en-US" dirty="0"/>
              <a:t>)/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nums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904721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270D4-EBC5-8848-43A8-E8214B38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68B5C-661A-0D61-ACDD-7369DB040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827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94" y="1809947"/>
            <a:ext cx="10294069" cy="4298622"/>
          </a:xfrm>
          <a:ln>
            <a:solidFill>
              <a:schemeClr val="accent1"/>
            </a:solidFill>
          </a:ln>
        </p:spPr>
        <p:txBody>
          <a:bodyPr/>
          <a:lstStyle/>
          <a:p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In Python, a tuple is similar to </a:t>
            </a:r>
            <a:r>
              <a:rPr lang="en-US" b="1" dirty="0">
                <a:solidFill>
                  <a:srgbClr val="FF0000"/>
                </a:solidFill>
              </a:rPr>
              <a:t>List</a:t>
            </a:r>
            <a:r>
              <a:rPr lang="en-US" dirty="0"/>
              <a:t> except that the objects in </a:t>
            </a:r>
            <a:r>
              <a:rPr lang="en-US" dirty="0">
                <a:solidFill>
                  <a:srgbClr val="FF0000"/>
                </a:solidFill>
              </a:rPr>
              <a:t>tuple</a:t>
            </a:r>
            <a:r>
              <a:rPr lang="en-US" dirty="0"/>
              <a:t> are immutable.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Only the difference is that </a:t>
            </a:r>
            <a:r>
              <a:rPr lang="en-US" dirty="0">
                <a:solidFill>
                  <a:srgbClr val="FF0000"/>
                </a:solidFill>
              </a:rPr>
              <a:t>List uses </a:t>
            </a:r>
            <a:r>
              <a:rPr lang="en-US" dirty="0"/>
              <a:t>square bracket and </a:t>
            </a:r>
            <a:r>
              <a:rPr lang="en-US" dirty="0">
                <a:solidFill>
                  <a:srgbClr val="FF0000"/>
                </a:solidFill>
              </a:rPr>
              <a:t>tuple uses </a:t>
            </a:r>
            <a:r>
              <a:rPr lang="en-US" dirty="0"/>
              <a:t>parenthesis.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Tuples are enclosed in parenthesis and </a:t>
            </a:r>
            <a:r>
              <a:rPr lang="en-US" b="1" dirty="0"/>
              <a:t>cannot be changed(immutable</a:t>
            </a:r>
            <a:r>
              <a:rPr lang="en-US" dirty="0"/>
              <a:t>).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i="1" dirty="0"/>
              <a:t>You cannot delete or add elements in a </a:t>
            </a:r>
            <a:r>
              <a:rPr lang="en-US" i="1" dirty="0" err="1"/>
              <a:t>tuple</a:t>
            </a:r>
            <a:r>
              <a:rPr lang="en-US" i="1" dirty="0"/>
              <a:t>, once it is created.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895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951" y="1093510"/>
            <a:ext cx="8832145" cy="443614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# tuple of strings </a:t>
            </a:r>
          </a:p>
          <a:p>
            <a:pPr marL="0" indent="0">
              <a:buNone/>
            </a:pPr>
            <a:r>
              <a:rPr lang="en-US" dirty="0" err="1"/>
              <a:t>my_data</a:t>
            </a:r>
            <a:r>
              <a:rPr lang="en-US" dirty="0"/>
              <a:t> = ("hi", "hello", "bye")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my_data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dirty="0"/>
              <a:t># tuple of </a:t>
            </a:r>
            <a:r>
              <a:rPr lang="en-US" b="1" dirty="0" err="1"/>
              <a:t>int</a:t>
            </a:r>
            <a:r>
              <a:rPr lang="en-US" b="1" dirty="0"/>
              <a:t>, float, string</a:t>
            </a:r>
          </a:p>
          <a:p>
            <a:pPr marL="0" indent="0">
              <a:buNone/>
            </a:pPr>
            <a:r>
              <a:rPr lang="en-US" dirty="0"/>
              <a:t>my_data2 = (1, 2.8, "Hello World")</a:t>
            </a:r>
          </a:p>
          <a:p>
            <a:pPr marL="0" indent="0">
              <a:buNone/>
            </a:pPr>
            <a:r>
              <a:rPr lang="en-US" dirty="0"/>
              <a:t>print(my_data2)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75" y="445992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# tuples inside another tuple</a:t>
            </a:r>
          </a:p>
          <a:p>
            <a:r>
              <a:rPr lang="en-US" b="1" dirty="0"/>
              <a:t># nested tuple</a:t>
            </a:r>
          </a:p>
          <a:p>
            <a:r>
              <a:rPr lang="en-US" dirty="0"/>
              <a:t>my_data4 = ((2, 3, 4), (1, 2, "hi"))</a:t>
            </a:r>
          </a:p>
          <a:p>
            <a:r>
              <a:rPr lang="en-US" dirty="0"/>
              <a:t>print(my_data4)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466" y="6034989"/>
            <a:ext cx="5575218" cy="77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920915" y="599988"/>
            <a:ext cx="1725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Creating tuple</a:t>
            </a:r>
          </a:p>
        </p:txBody>
      </p:sp>
    </p:spTree>
    <p:extLst>
      <p:ext uri="{BB962C8B-B14F-4D97-AF65-F5344CB8AC3E}">
        <p14:creationId xmlns:p14="http://schemas.microsoft.com/office/powerpoint/2010/main" val="969671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907" y="355461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Accessing tuple elements using positive indexes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2811"/>
            <a:ext cx="8596668" cy="49674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 tuple of strings</a:t>
            </a:r>
          </a:p>
          <a:p>
            <a:pPr marL="0" indent="0">
              <a:buNone/>
            </a:pPr>
            <a:r>
              <a:rPr lang="en-US" dirty="0" err="1"/>
              <a:t>my_data</a:t>
            </a:r>
            <a:r>
              <a:rPr lang="en-US" dirty="0"/>
              <a:t> = ("hi", "hello", "bye")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# displaying all elements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my_data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# accessing first element</a:t>
            </a:r>
          </a:p>
          <a:p>
            <a:pPr marL="0" indent="0">
              <a:buNone/>
            </a:pPr>
            <a:r>
              <a:rPr lang="en-US" dirty="0"/>
              <a:t># prints "hi"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my_data</a:t>
            </a:r>
            <a:r>
              <a:rPr lang="en-US" dirty="0"/>
              <a:t>[0])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# accessing third element</a:t>
            </a:r>
          </a:p>
          <a:p>
            <a:pPr marL="0" indent="0">
              <a:buNone/>
            </a:pPr>
            <a:r>
              <a:rPr lang="en-US" dirty="0"/>
              <a:t># prints "bye"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my_data</a:t>
            </a:r>
            <a:r>
              <a:rPr lang="en-US" dirty="0"/>
              <a:t>[2])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08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Negative indexes in tuples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17589"/>
            <a:ext cx="8596668" cy="432377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my_data</a:t>
            </a:r>
            <a:r>
              <a:rPr lang="en-US" dirty="0"/>
              <a:t> = (1, 2, "Kevin", 8.9)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# accessing last element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# prints 8.9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my_data</a:t>
            </a:r>
            <a:r>
              <a:rPr lang="en-US" dirty="0"/>
              <a:t>[-1])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# prints 2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my_data</a:t>
            </a:r>
            <a:r>
              <a:rPr lang="en-US" dirty="0"/>
              <a:t>[-3])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1571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Accessing elements from nested tuples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14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my_data</a:t>
            </a:r>
            <a:r>
              <a:rPr lang="en-US" dirty="0"/>
              <a:t> = (1, "Steve", (11, 22, 33))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prints 'v'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my_data</a:t>
            </a:r>
            <a:r>
              <a:rPr lang="en-US" dirty="0"/>
              <a:t>[1][3])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prints 22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my_data</a:t>
            </a:r>
            <a:r>
              <a:rPr lang="en-US" dirty="0"/>
              <a:t>[2][1])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5910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46847"/>
            <a:ext cx="8596668" cy="1320800"/>
          </a:xfrm>
        </p:spPr>
        <p:txBody>
          <a:bodyPr/>
          <a:lstStyle/>
          <a:p>
            <a:r>
              <a:rPr lang="en-US" b="1" dirty="0"/>
              <a:t>Changing the elements of a tuple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79373"/>
            <a:ext cx="8763228" cy="4819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14" y="1494653"/>
            <a:ext cx="7229475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14" y="5634679"/>
            <a:ext cx="7769537" cy="1131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4516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982" y="164757"/>
            <a:ext cx="8596668" cy="687859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Delete operation on tuple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37968"/>
            <a:ext cx="8596668" cy="55728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 tuple elements are immutable which also means that we cannot delete the elements of a tuple.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my_data</a:t>
            </a:r>
            <a:r>
              <a:rPr lang="en-US" dirty="0"/>
              <a:t> = (1, 2, 3, 4, 5, 6)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my_data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not possible</a:t>
            </a:r>
          </a:p>
          <a:p>
            <a:pPr marL="0" indent="0">
              <a:buNone/>
            </a:pPr>
            <a:r>
              <a:rPr lang="en-US" dirty="0"/>
              <a:t># error</a:t>
            </a:r>
          </a:p>
          <a:p>
            <a:pPr marL="0" indent="0">
              <a:buNone/>
            </a:pPr>
            <a:r>
              <a:rPr lang="en-US" dirty="0"/>
              <a:t># del </a:t>
            </a:r>
            <a:r>
              <a:rPr lang="en-US" dirty="0" err="1"/>
              <a:t>my_data</a:t>
            </a:r>
            <a:r>
              <a:rPr lang="en-US" dirty="0"/>
              <a:t>[2]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deleting entire tuple is possible</a:t>
            </a:r>
          </a:p>
          <a:p>
            <a:pPr marL="0" indent="0">
              <a:buNone/>
            </a:pPr>
            <a:r>
              <a:rPr lang="en-US" dirty="0"/>
              <a:t>del </a:t>
            </a:r>
            <a:r>
              <a:rPr lang="en-US" dirty="0" err="1"/>
              <a:t>my_data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not possible</a:t>
            </a:r>
          </a:p>
          <a:p>
            <a:pPr marL="0" indent="0">
              <a:buNone/>
            </a:pPr>
            <a:r>
              <a:rPr lang="en-US" dirty="0"/>
              <a:t># error</a:t>
            </a:r>
          </a:p>
          <a:p>
            <a:pPr marL="0" indent="0">
              <a:buNone/>
            </a:pPr>
            <a:r>
              <a:rPr lang="en-US" dirty="0"/>
              <a:t># because </a:t>
            </a:r>
            <a:r>
              <a:rPr lang="en-US" dirty="0" err="1"/>
              <a:t>my_data</a:t>
            </a:r>
            <a:r>
              <a:rPr lang="en-US" dirty="0"/>
              <a:t> is deleted</a:t>
            </a:r>
          </a:p>
          <a:p>
            <a:pPr marL="0" indent="0">
              <a:buNone/>
            </a:pPr>
            <a:r>
              <a:rPr lang="en-US" dirty="0"/>
              <a:t># print(</a:t>
            </a:r>
            <a:r>
              <a:rPr lang="en-US" dirty="0" err="1"/>
              <a:t>my_data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5966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480" y="0"/>
            <a:ext cx="8596668" cy="1320800"/>
          </a:xfrm>
        </p:spPr>
        <p:txBody>
          <a:bodyPr/>
          <a:lstStyle/>
          <a:p>
            <a:r>
              <a:rPr lang="en-US" b="1" dirty="0"/>
              <a:t>Slicing operation in tuples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36" y="820437"/>
            <a:ext cx="5619750" cy="587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919" y="5605591"/>
            <a:ext cx="5295900" cy="1252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77457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410" y="387178"/>
            <a:ext cx="8596668" cy="1320800"/>
          </a:xfrm>
        </p:spPr>
        <p:txBody>
          <a:bodyPr/>
          <a:lstStyle/>
          <a:p>
            <a:r>
              <a:rPr lang="en-US" b="1" dirty="0"/>
              <a:t>Membership Test in Tuples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39" y="1556951"/>
            <a:ext cx="55245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394" y="5838110"/>
            <a:ext cx="4944247" cy="1019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12674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Iterating a tuple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550" y="18146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# tuple of fruits</a:t>
            </a:r>
          </a:p>
          <a:p>
            <a:pPr marL="0" indent="0">
              <a:buNone/>
            </a:pPr>
            <a:r>
              <a:rPr lang="en-US" dirty="0" err="1"/>
              <a:t>my_tuple</a:t>
            </a:r>
            <a:r>
              <a:rPr lang="en-US" dirty="0"/>
              <a:t> = ("Apple", "Orange", "Grapes", "Banana")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iterating over tuple elements</a:t>
            </a:r>
          </a:p>
          <a:p>
            <a:pPr marL="0" indent="0">
              <a:buNone/>
            </a:pPr>
            <a:r>
              <a:rPr lang="en-US" dirty="0"/>
              <a:t>for fruit in </a:t>
            </a:r>
            <a:r>
              <a:rPr lang="en-US" dirty="0" err="1"/>
              <a:t>my_tuple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print(fruit)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24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30" y="642551"/>
            <a:ext cx="9158416" cy="5560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46621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Tuples Operations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55600" y="1270000"/>
            <a:ext cx="8918402" cy="435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107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-Built-in Tuple Functions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25500" y="1930400"/>
            <a:ext cx="6908799" cy="825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5500" y="2755900"/>
            <a:ext cx="5930900" cy="320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23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Tuple </a:t>
            </a:r>
            <a:r>
              <a:rPr lang="en-US" dirty="0" err="1"/>
              <a:t>len</a:t>
            </a:r>
            <a:r>
              <a:rPr lang="en-US" dirty="0"/>
              <a:t>() Method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4750" y="1828801"/>
            <a:ext cx="6206438" cy="18653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1400" y="3694114"/>
            <a:ext cx="7493000" cy="234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213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Tuple max() Method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89000" y="3848100"/>
            <a:ext cx="7835900" cy="1765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9000" y="2160589"/>
            <a:ext cx="6311900" cy="16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794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8500"/>
          </a:xfrm>
        </p:spPr>
        <p:txBody>
          <a:bodyPr/>
          <a:lstStyle/>
          <a:p>
            <a:r>
              <a:rPr lang="en-US" dirty="0"/>
              <a:t>Python – Tuple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09701"/>
            <a:ext cx="8596668" cy="4631662"/>
          </a:xfrm>
        </p:spPr>
        <p:txBody>
          <a:bodyPr/>
          <a:lstStyle/>
          <a:p>
            <a:r>
              <a:rPr lang="en-US" dirty="0"/>
              <a:t>Python has a very powerful tuple assignment feature that allows a tuple of variables on the left of an assignment to be assigned values from a tuple on the right of the assignment.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In tuple packing, the values on the left are ‘packed’ together in a tuple:</a:t>
            </a:r>
          </a:p>
          <a:p>
            <a:pPr marL="0" indent="0">
              <a:buNone/>
            </a:pPr>
            <a:r>
              <a:rPr lang="en-US" dirty="0"/>
              <a:t>&gt;&gt;&gt; b = ("Bob", 19, "CS")    # tuple packing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In tuple unpacking, the values in a tuple on the right are ‘unpacked’ into the variables/names on the right: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                                                                        #tuple un-packing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2287" y="3911600"/>
            <a:ext cx="5243513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507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394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Dictionary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1000"/>
            <a:ext cx="10515600" cy="47418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endParaRPr lang="en-US" sz="2000" dirty="0"/>
          </a:p>
          <a:p>
            <a:pPr>
              <a:buFont typeface="Wingdings" pitchFamily="2" charset="2"/>
              <a:buChar char="q"/>
            </a:pPr>
            <a:r>
              <a:rPr lang="en-US" sz="2000" dirty="0"/>
              <a:t>Dictionary is a collection which works on a </a:t>
            </a:r>
            <a:r>
              <a:rPr lang="en-US" sz="2000" dirty="0">
                <a:solidFill>
                  <a:srgbClr val="FF0000"/>
                </a:solidFill>
              </a:rPr>
              <a:t>key-value</a:t>
            </a:r>
            <a:r>
              <a:rPr lang="en-US" sz="2000" dirty="0"/>
              <a:t> pair.</a:t>
            </a:r>
          </a:p>
          <a:p>
            <a:pPr>
              <a:buFont typeface="Wingdings" pitchFamily="2" charset="2"/>
              <a:buChar char="q"/>
            </a:pPr>
            <a:endParaRPr lang="en-US" sz="2000" dirty="0"/>
          </a:p>
          <a:p>
            <a:pPr>
              <a:buFont typeface="Wingdings" pitchFamily="2" charset="2"/>
              <a:buChar char="q"/>
            </a:pPr>
            <a:r>
              <a:rPr lang="en-US" sz="2000" dirty="0"/>
              <a:t> An item has a </a:t>
            </a:r>
            <a:r>
              <a:rPr lang="en-US" sz="2000" dirty="0">
                <a:solidFill>
                  <a:srgbClr val="FF0000"/>
                </a:solidFill>
              </a:rPr>
              <a:t>key</a:t>
            </a:r>
            <a:r>
              <a:rPr lang="en-US" sz="2000" dirty="0"/>
              <a:t> and a corresponding </a:t>
            </a:r>
            <a:r>
              <a:rPr lang="en-US" sz="2000" dirty="0">
                <a:solidFill>
                  <a:srgbClr val="FF0000"/>
                </a:solidFill>
              </a:rPr>
              <a:t>value</a:t>
            </a:r>
            <a:r>
              <a:rPr lang="en-US" sz="2000" dirty="0"/>
              <a:t> that is expressed as a pair  </a:t>
            </a:r>
          </a:p>
          <a:p>
            <a:pPr>
              <a:buFont typeface="Wingdings" pitchFamily="2" charset="2"/>
              <a:buChar char="q"/>
            </a:pPr>
            <a:endParaRPr lang="en-US" sz="2000" dirty="0"/>
          </a:p>
          <a:p>
            <a:pPr>
              <a:buFont typeface="Wingdings" pitchFamily="2" charset="2"/>
              <a:buChar char="q"/>
            </a:pPr>
            <a:r>
              <a:rPr lang="en-US" sz="2000" dirty="0"/>
              <a:t>Dictionaries are enclosed by curly braces ({}) and values can be retrieved by</a:t>
            </a:r>
          </a:p>
          <a:p>
            <a:pPr marL="0" indent="0">
              <a:buNone/>
            </a:pPr>
            <a:r>
              <a:rPr lang="en-US" sz="2000" dirty="0"/>
              <a:t>     square bracket([]).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</a:rPr>
              <a:t>values</a:t>
            </a:r>
            <a:r>
              <a:rPr lang="en-US" sz="2000" dirty="0"/>
              <a:t> can be of any data type and can repeat, </a:t>
            </a:r>
            <a:r>
              <a:rPr lang="en-US" sz="2000" dirty="0">
                <a:solidFill>
                  <a:srgbClr val="FF0000"/>
                </a:solidFill>
              </a:rPr>
              <a:t>keys</a:t>
            </a:r>
            <a:r>
              <a:rPr lang="en-US" sz="2000" dirty="0"/>
              <a:t> must be of immutable type </a:t>
            </a:r>
          </a:p>
          <a:p>
            <a:pPr marL="0" indent="0">
              <a:buNone/>
            </a:pPr>
            <a:r>
              <a:rPr lang="en-US" sz="2000" dirty="0"/>
              <a:t>     (</a:t>
            </a:r>
            <a:r>
              <a:rPr lang="en-US" sz="2000" dirty="0">
                <a:hlinkClick r:id="rId2"/>
              </a:rPr>
              <a:t>string</a:t>
            </a:r>
            <a:r>
              <a:rPr lang="en-US" sz="2000" dirty="0"/>
              <a:t>, </a:t>
            </a:r>
            <a:r>
              <a:rPr lang="en-US" sz="2000" dirty="0">
                <a:hlinkClick r:id="rId3"/>
              </a:rPr>
              <a:t>number</a:t>
            </a:r>
            <a:r>
              <a:rPr lang="en-US" sz="2000" dirty="0"/>
              <a:t> or </a:t>
            </a:r>
            <a:r>
              <a:rPr lang="en-US" sz="2000" dirty="0">
                <a:hlinkClick r:id="rId4"/>
              </a:rPr>
              <a:t>tuple</a:t>
            </a:r>
            <a:r>
              <a:rPr lang="en-US" sz="2000" dirty="0"/>
              <a:t> with immutable elements) and must be unique.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660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75" y="350108"/>
            <a:ext cx="8596668" cy="1320800"/>
          </a:xfrm>
        </p:spPr>
        <p:txBody>
          <a:bodyPr/>
          <a:lstStyle/>
          <a:p>
            <a:r>
              <a:rPr lang="en-US" b="1" dirty="0"/>
              <a:t>Accessing Elements from Dictionary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66975" y="1562401"/>
            <a:ext cx="8596668" cy="23316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6975" y="4030690"/>
            <a:ext cx="9302239" cy="203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539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BC3C11-3EB6-290D-00D5-C1C5DF95228B}"/>
              </a:ext>
            </a:extLst>
          </p:cNvPr>
          <p:cNvSpPr txBox="1"/>
          <p:nvPr/>
        </p:nvSpPr>
        <p:spPr>
          <a:xfrm>
            <a:off x="537328" y="753700"/>
            <a:ext cx="861845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# 1. Empty dictionary</a:t>
            </a:r>
          </a:p>
          <a:p>
            <a:r>
              <a:rPr lang="en-IN" dirty="0" err="1"/>
              <a:t>my_dict</a:t>
            </a:r>
            <a:r>
              <a:rPr lang="en-IN" dirty="0"/>
              <a:t> = {}</a:t>
            </a:r>
          </a:p>
          <a:p>
            <a:r>
              <a:rPr lang="en-IN" dirty="0"/>
              <a:t>print("1. Empty Dictionary:", </a:t>
            </a:r>
            <a:r>
              <a:rPr lang="en-IN" dirty="0" err="1"/>
              <a:t>my_dict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b="1" dirty="0"/>
              <a:t># 2. Dictionary with integer keys</a:t>
            </a:r>
          </a:p>
          <a:p>
            <a:r>
              <a:rPr lang="en-IN" dirty="0" err="1"/>
              <a:t>my_dict</a:t>
            </a:r>
            <a:r>
              <a:rPr lang="en-IN" dirty="0"/>
              <a:t> = {1: 'apple', 2: 'ball'}</a:t>
            </a:r>
          </a:p>
          <a:p>
            <a:r>
              <a:rPr lang="en-IN" dirty="0"/>
              <a:t>print("2. Integer Keys:", </a:t>
            </a:r>
            <a:r>
              <a:rPr lang="en-IN" dirty="0" err="1"/>
              <a:t>my_dict</a:t>
            </a:r>
            <a:r>
              <a:rPr lang="en-IN" dirty="0"/>
              <a:t>)</a:t>
            </a:r>
          </a:p>
          <a:p>
            <a:endParaRPr lang="en-IN" b="1" dirty="0"/>
          </a:p>
          <a:p>
            <a:r>
              <a:rPr lang="en-IN" b="1" dirty="0"/>
              <a:t># 3. Dictionary with mixed keys</a:t>
            </a:r>
          </a:p>
          <a:p>
            <a:r>
              <a:rPr lang="en-IN" dirty="0" err="1"/>
              <a:t>my_dict</a:t>
            </a:r>
            <a:r>
              <a:rPr lang="en-IN" dirty="0"/>
              <a:t> = {'name': 'John', 1: [2, 4, 3]}</a:t>
            </a:r>
          </a:p>
          <a:p>
            <a:r>
              <a:rPr lang="en-IN" dirty="0"/>
              <a:t>print("3. Mixed Keys:", </a:t>
            </a:r>
            <a:r>
              <a:rPr lang="en-IN" dirty="0" err="1"/>
              <a:t>my_dict</a:t>
            </a:r>
            <a:r>
              <a:rPr lang="en-IN" dirty="0"/>
              <a:t>)</a:t>
            </a:r>
          </a:p>
          <a:p>
            <a:endParaRPr lang="en-IN" b="1" dirty="0"/>
          </a:p>
          <a:p>
            <a:r>
              <a:rPr lang="en-IN" b="1" dirty="0"/>
              <a:t># 4. Using </a:t>
            </a:r>
            <a:r>
              <a:rPr lang="en-IN" b="1" dirty="0" err="1"/>
              <a:t>dict</a:t>
            </a:r>
            <a:r>
              <a:rPr lang="en-IN" b="1" dirty="0"/>
              <a:t>()</a:t>
            </a:r>
          </a:p>
          <a:p>
            <a:r>
              <a:rPr lang="en-IN" dirty="0" err="1"/>
              <a:t>my_dict</a:t>
            </a:r>
            <a:r>
              <a:rPr lang="en-IN" dirty="0"/>
              <a:t> = </a:t>
            </a:r>
            <a:r>
              <a:rPr lang="en-IN" b="1" dirty="0" err="1"/>
              <a:t>dict</a:t>
            </a:r>
            <a:r>
              <a:rPr lang="en-IN" dirty="0"/>
              <a:t>({1: 'apple', 2: 'ball’})      </a:t>
            </a:r>
          </a:p>
          <a:p>
            <a:r>
              <a:rPr lang="en-IN" dirty="0"/>
              <a:t>print("4. Using </a:t>
            </a:r>
            <a:r>
              <a:rPr lang="en-IN" dirty="0" err="1"/>
              <a:t>dict</a:t>
            </a:r>
            <a:r>
              <a:rPr lang="en-IN" dirty="0"/>
              <a:t>():", </a:t>
            </a:r>
            <a:r>
              <a:rPr lang="en-IN" dirty="0" err="1"/>
              <a:t>my_dict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b="1" dirty="0"/>
              <a:t># 5. From sequence (list of tuples)</a:t>
            </a:r>
          </a:p>
          <a:p>
            <a:r>
              <a:rPr lang="en-IN" dirty="0" err="1"/>
              <a:t>my_dict</a:t>
            </a:r>
            <a:r>
              <a:rPr lang="en-IN" dirty="0"/>
              <a:t> = </a:t>
            </a:r>
            <a:r>
              <a:rPr lang="en-IN" b="1" dirty="0" err="1"/>
              <a:t>dict</a:t>
            </a:r>
            <a:r>
              <a:rPr lang="en-IN" dirty="0"/>
              <a:t>([(1, 'apple'), (2, 'ball')])</a:t>
            </a:r>
          </a:p>
          <a:p>
            <a:r>
              <a:rPr lang="en-IN" dirty="0"/>
              <a:t>print("5. From Sequence:", </a:t>
            </a:r>
            <a:r>
              <a:rPr lang="en-IN" dirty="0" err="1"/>
              <a:t>my_dict</a:t>
            </a:r>
            <a:r>
              <a:rPr lang="en-IN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261AD-B4BD-AB45-8331-E73C71613C2A}"/>
              </a:ext>
            </a:extLst>
          </p:cNvPr>
          <p:cNvSpPr txBox="1"/>
          <p:nvPr/>
        </p:nvSpPr>
        <p:spPr>
          <a:xfrm>
            <a:off x="4846555" y="4465651"/>
            <a:ext cx="7191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You are converting an </a:t>
            </a:r>
            <a:r>
              <a:rPr lang="en-US" sz="1400" b="1" dirty="0"/>
              <a:t>already existing dictionary</a:t>
            </a:r>
            <a:r>
              <a:rPr lang="en-US" sz="1400" dirty="0"/>
              <a:t> into a dictionary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57430-D5F6-84EC-2411-04387AEE19C4}"/>
              </a:ext>
            </a:extLst>
          </p:cNvPr>
          <p:cNvSpPr txBox="1"/>
          <p:nvPr/>
        </p:nvSpPr>
        <p:spPr>
          <a:xfrm>
            <a:off x="4918435" y="5509123"/>
            <a:ext cx="61038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You are creating a dictionary from a </a:t>
            </a:r>
            <a:r>
              <a:rPr lang="en-US" sz="1400" b="1" dirty="0"/>
              <a:t>list of tuples (pairs)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760AC3-64FC-C0E1-F53A-3FDB09C07672}"/>
              </a:ext>
            </a:extLst>
          </p:cNvPr>
          <p:cNvSpPr txBox="1"/>
          <p:nvPr/>
        </p:nvSpPr>
        <p:spPr>
          <a:xfrm>
            <a:off x="5286081" y="5853474"/>
            <a:ext cx="6103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pairs = [(1, 'apple'), (2, 'ball')]</a:t>
            </a:r>
            <a:br>
              <a:rPr lang="en-US" dirty="0"/>
            </a:br>
            <a:r>
              <a:rPr lang="en-US" dirty="0" err="1"/>
              <a:t>my_dict</a:t>
            </a:r>
            <a:r>
              <a:rPr lang="en-US" dirty="0"/>
              <a:t> = </a:t>
            </a:r>
            <a:r>
              <a:rPr lang="en-US" dirty="0" err="1"/>
              <a:t>dict</a:t>
            </a:r>
            <a:r>
              <a:rPr lang="en-US" dirty="0"/>
              <a:t>(pairs)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my_dict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41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81BB5E-2FD2-2058-FA76-D2EA6E351A3B}"/>
              </a:ext>
            </a:extLst>
          </p:cNvPr>
          <p:cNvSpPr txBox="1"/>
          <p:nvPr/>
        </p:nvSpPr>
        <p:spPr>
          <a:xfrm>
            <a:off x="1685040" y="1806573"/>
            <a:ext cx="722328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1. Empty Dictionary: {}</a:t>
            </a:r>
          </a:p>
          <a:p>
            <a:r>
              <a:rPr lang="en-IN" sz="2400" dirty="0"/>
              <a:t>2. Integer Keys: {1: 'apple', 2: 'ball'}</a:t>
            </a:r>
          </a:p>
          <a:p>
            <a:r>
              <a:rPr lang="en-IN" sz="2400" dirty="0"/>
              <a:t>3. Mixed Keys: {'name': 'John', 1: [2, 4, 3]}</a:t>
            </a:r>
          </a:p>
          <a:p>
            <a:r>
              <a:rPr lang="en-IN" sz="2400" dirty="0"/>
              <a:t>4. Using </a:t>
            </a:r>
            <a:r>
              <a:rPr lang="en-IN" sz="2400" dirty="0" err="1"/>
              <a:t>dict</a:t>
            </a:r>
            <a:r>
              <a:rPr lang="en-IN" sz="2400" dirty="0"/>
              <a:t>(): {1: 'apple', 2: 'ball'}</a:t>
            </a:r>
          </a:p>
          <a:p>
            <a:r>
              <a:rPr lang="en-IN" sz="2400" dirty="0"/>
              <a:t>5. From Sequence: {1: 'apple', 2: 'ball'}</a:t>
            </a:r>
          </a:p>
        </p:txBody>
      </p:sp>
    </p:spTree>
    <p:extLst>
      <p:ext uri="{BB962C8B-B14F-4D97-AF65-F5344CB8AC3E}">
        <p14:creationId xmlns:p14="http://schemas.microsoft.com/office/powerpoint/2010/main" val="37237878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81" y="540608"/>
            <a:ext cx="8133367" cy="504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27470" y="5999890"/>
            <a:ext cx="4711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dictionary using the built-in </a:t>
            </a:r>
            <a:r>
              <a:rPr lang="en-US" dirty="0" err="1">
                <a:solidFill>
                  <a:srgbClr val="FF0000"/>
                </a:solidFill>
              </a:rPr>
              <a:t>dict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 function.</a:t>
            </a:r>
          </a:p>
        </p:txBody>
      </p:sp>
    </p:spTree>
    <p:extLst>
      <p:ext uri="{BB962C8B-B14F-4D97-AF65-F5344CB8AC3E}">
        <p14:creationId xmlns:p14="http://schemas.microsoft.com/office/powerpoint/2010/main" val="37074685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Changing and Adding Dictionary elements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047" y="1530394"/>
            <a:ext cx="8596668" cy="388077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Dictionaries are mutable. We can add new items or change the value of existing items using an assignment operator.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Key is already present, then the existing value gets updated.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22" y="3002817"/>
            <a:ext cx="6638668" cy="3572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297876"/>
            <a:ext cx="4780778" cy="560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57283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– Dictionaries Example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60401" y="2451100"/>
            <a:ext cx="8623300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752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Removing elements from Dictionary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901097"/>
            <a:ext cx="9269855" cy="388077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 remove a particular item in a dictionary by using the </a:t>
            </a:r>
            <a:r>
              <a:rPr lang="en-US" dirty="0">
                <a:solidFill>
                  <a:srgbClr val="FF0000"/>
                </a:solidFill>
              </a:rPr>
              <a:t>pop()</a:t>
            </a:r>
            <a:r>
              <a:rPr lang="en-US" dirty="0"/>
              <a:t> method.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This method removes an item with the provided key and returns the value.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 err="1">
                <a:solidFill>
                  <a:srgbClr val="FF0000"/>
                </a:solidFill>
              </a:rPr>
              <a:t>popitem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 method can be used to remove and return an arbitrary (key, value) item pair from the dictionary. 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items can be removed at once, using the </a:t>
            </a:r>
            <a:r>
              <a:rPr lang="en-US" dirty="0">
                <a:solidFill>
                  <a:srgbClr val="FF0000"/>
                </a:solidFill>
              </a:rPr>
              <a:t>clear() </a:t>
            </a:r>
            <a:r>
              <a:rPr lang="en-US" dirty="0"/>
              <a:t>method.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>
                <a:solidFill>
                  <a:srgbClr val="FF0000"/>
                </a:solidFill>
              </a:rPr>
              <a:t>del</a:t>
            </a:r>
            <a:r>
              <a:rPr lang="en-US" dirty="0"/>
              <a:t> keyword to remove individual items or the entire dictionary itself.</a:t>
            </a:r>
          </a:p>
        </p:txBody>
      </p:sp>
    </p:spTree>
    <p:extLst>
      <p:ext uri="{BB962C8B-B14F-4D97-AF65-F5344CB8AC3E}">
        <p14:creationId xmlns:p14="http://schemas.microsoft.com/office/powerpoint/2010/main" val="13566885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51" y="135024"/>
            <a:ext cx="5257800" cy="589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851" y="5227553"/>
            <a:ext cx="4430412" cy="1630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51080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90" y="446517"/>
            <a:ext cx="5629275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677" y="4728390"/>
            <a:ext cx="13335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86804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Dictionary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55925"/>
            <a:ext cx="10515600" cy="435133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2861" y="2654300"/>
            <a:ext cx="9632013" cy="176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99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to change or add elements in a dictionary?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7334" y="1785582"/>
            <a:ext cx="6677025" cy="3590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7334" y="5376507"/>
            <a:ext cx="10200873" cy="137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54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984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719" y="209550"/>
            <a:ext cx="8596668" cy="800100"/>
          </a:xfrm>
        </p:spPr>
        <p:txBody>
          <a:bodyPr>
            <a:noAutofit/>
          </a:bodyPr>
          <a:lstStyle/>
          <a:p>
            <a:r>
              <a:rPr lang="en-US" dirty="0"/>
              <a:t>Python Sets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249" y="1485901"/>
            <a:ext cx="9963806" cy="488336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What is a set in Python?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A set is an unordered collection of items.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Every element is unique (no duplicates)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IN" sz="2400" dirty="0"/>
              <a:t>It is written using </a:t>
            </a:r>
            <a:r>
              <a:rPr lang="en-IN" dirty="0"/>
              <a:t>{ 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set itself is mutable. We can add or remove items from it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8855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62" y="171450"/>
            <a:ext cx="8596668" cy="1320800"/>
          </a:xfrm>
        </p:spPr>
        <p:txBody>
          <a:bodyPr/>
          <a:lstStyle/>
          <a:p>
            <a:r>
              <a:rPr lang="en-US" dirty="0"/>
              <a:t>Python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42545"/>
            <a:ext cx="9222828" cy="5072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# set of integers</a:t>
            </a:r>
          </a:p>
          <a:p>
            <a:pPr marL="0" indent="0">
              <a:buNone/>
            </a:pPr>
            <a:r>
              <a:rPr lang="en-US" sz="2000" dirty="0" err="1"/>
              <a:t>my_set</a:t>
            </a:r>
            <a:r>
              <a:rPr lang="en-US" sz="2000" dirty="0"/>
              <a:t> = {1, 2, 3}</a:t>
            </a:r>
          </a:p>
          <a:p>
            <a:pPr marL="0" indent="0">
              <a:buNone/>
            </a:pPr>
            <a:r>
              <a:rPr lang="en-US" sz="2000" dirty="0"/>
              <a:t>print(</a:t>
            </a:r>
            <a:r>
              <a:rPr lang="en-US" sz="2000" dirty="0" err="1"/>
              <a:t>my_set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000" dirty="0"/>
              <a:t># set of mixed datatypes</a:t>
            </a:r>
          </a:p>
          <a:p>
            <a:pPr marL="0" indent="0">
              <a:buNone/>
            </a:pPr>
            <a:r>
              <a:rPr lang="en-US" sz="2000" dirty="0" err="1"/>
              <a:t>my_set</a:t>
            </a:r>
            <a:r>
              <a:rPr lang="en-US" sz="2000" dirty="0"/>
              <a:t> = {1.0, "Hello", (1, 2, 3)}</a:t>
            </a:r>
          </a:p>
          <a:p>
            <a:pPr marL="0" indent="0">
              <a:buNone/>
            </a:pPr>
            <a:r>
              <a:rPr lang="en-US" sz="2000" dirty="0"/>
              <a:t>print(</a:t>
            </a:r>
            <a:r>
              <a:rPr lang="en-US" sz="2000" dirty="0" err="1"/>
              <a:t>my_set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Output: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{1, 2, 3}</a:t>
            </a:r>
          </a:p>
          <a:p>
            <a:pPr marL="0" indent="0">
              <a:buNone/>
            </a:pPr>
            <a:r>
              <a:rPr lang="en-US" sz="2000" dirty="0"/>
              <a:t>{'Hello', 1.0, (1, 2, 3)}</a:t>
            </a:r>
          </a:p>
        </p:txBody>
      </p:sp>
    </p:spTree>
    <p:extLst>
      <p:ext uri="{BB962C8B-B14F-4D97-AF65-F5344CB8AC3E}">
        <p14:creationId xmlns:p14="http://schemas.microsoft.com/office/powerpoint/2010/main" val="4142638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306" y="168165"/>
            <a:ext cx="8596668" cy="1320800"/>
          </a:xfrm>
        </p:spPr>
        <p:txBody>
          <a:bodyPr/>
          <a:lstStyle/>
          <a:p>
            <a:r>
              <a:rPr lang="en-US" dirty="0"/>
              <a:t>Python Sets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96564" y="1301524"/>
            <a:ext cx="7882759" cy="1609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6564" y="3111382"/>
            <a:ext cx="9193426" cy="1209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25A56D-0AF6-7975-CE87-6FA8F61FC3EC}"/>
              </a:ext>
            </a:extLst>
          </p:cNvPr>
          <p:cNvSpPr txBox="1"/>
          <p:nvPr/>
        </p:nvSpPr>
        <p:spPr>
          <a:xfrm>
            <a:off x="405352" y="4881410"/>
            <a:ext cx="6127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Adding Element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54602-A260-7E73-D2D3-1DF67BA6404B}"/>
              </a:ext>
            </a:extLst>
          </p:cNvPr>
          <p:cNvSpPr txBox="1"/>
          <p:nvPr/>
        </p:nvSpPr>
        <p:spPr>
          <a:xfrm>
            <a:off x="405352" y="5543208"/>
            <a:ext cx="61274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my_set</a:t>
            </a:r>
            <a:r>
              <a:rPr lang="en-US" dirty="0"/>
              <a:t> = {1, 2, 3}</a:t>
            </a:r>
            <a:br>
              <a:rPr lang="en-US" dirty="0"/>
            </a:br>
            <a:r>
              <a:rPr lang="en-US" dirty="0" err="1"/>
              <a:t>my_set.add</a:t>
            </a:r>
            <a:r>
              <a:rPr lang="en-US" dirty="0"/>
              <a:t>(4)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my_set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719385-7EA5-3841-DA29-72F531072A0D}"/>
              </a:ext>
            </a:extLst>
          </p:cNvPr>
          <p:cNvSpPr txBox="1"/>
          <p:nvPr/>
        </p:nvSpPr>
        <p:spPr>
          <a:xfrm>
            <a:off x="4799009" y="6264080"/>
            <a:ext cx="6127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{1, 2, 3, 4}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3C0BF-EB4F-9C36-9324-B558203B7028}"/>
              </a:ext>
            </a:extLst>
          </p:cNvPr>
          <p:cNvSpPr txBox="1"/>
          <p:nvPr/>
        </p:nvSpPr>
        <p:spPr>
          <a:xfrm>
            <a:off x="6655323" y="805525"/>
            <a:ext cx="61274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Creating a Set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fruits = {"Apple", "Banana", "Mango"}</a:t>
            </a:r>
          </a:p>
          <a:p>
            <a:pPr rtl="0">
              <a:buNone/>
            </a:pPr>
            <a:endParaRPr lang="en-IN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print(fruits)</a:t>
            </a:r>
          </a:p>
        </p:txBody>
      </p:sp>
    </p:spTree>
    <p:extLst>
      <p:ext uri="{BB962C8B-B14F-4D97-AF65-F5344CB8AC3E}">
        <p14:creationId xmlns:p14="http://schemas.microsoft.com/office/powerpoint/2010/main" val="28791342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18C3-3984-F49C-356A-8BC38691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92" y="744397"/>
            <a:ext cx="8596668" cy="521616"/>
          </a:xfrm>
        </p:spPr>
        <p:txBody>
          <a:bodyPr>
            <a:normAutofit/>
          </a:bodyPr>
          <a:lstStyle/>
          <a:p>
            <a:r>
              <a:rPr lang="en-IN" sz="2800" dirty="0"/>
              <a:t>Removing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B71AE-CA7A-065A-2807-B84290CF5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492" y="1791256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my_set</a:t>
            </a:r>
            <a:r>
              <a:rPr lang="en-US" dirty="0"/>
              <a:t> = {1, 2, 3}</a:t>
            </a:r>
            <a:br>
              <a:rPr lang="en-US" dirty="0"/>
            </a:br>
            <a:r>
              <a:rPr lang="en-US" dirty="0" err="1"/>
              <a:t>my_set.remove</a:t>
            </a:r>
            <a:r>
              <a:rPr lang="en-US" dirty="0"/>
              <a:t>(2)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my_set</a:t>
            </a:r>
            <a:r>
              <a:rPr lang="en-US" dirty="0"/>
              <a:t>)                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IN" dirty="0">
                <a:solidFill>
                  <a:srgbClr val="C00000"/>
                </a:solidFill>
              </a:rPr>
              <a:t>{1, 3}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BDF0F-65B3-8662-D78B-CB860D8F209C}"/>
              </a:ext>
            </a:extLst>
          </p:cNvPr>
          <p:cNvSpPr txBox="1"/>
          <p:nvPr/>
        </p:nvSpPr>
        <p:spPr>
          <a:xfrm>
            <a:off x="604687" y="3386611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List to 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6B33F-9E6A-F77E-D688-7404D42185AE}"/>
              </a:ext>
            </a:extLst>
          </p:cNvPr>
          <p:cNvSpPr txBox="1"/>
          <p:nvPr/>
        </p:nvSpPr>
        <p:spPr>
          <a:xfrm>
            <a:off x="798922" y="4008642"/>
            <a:ext cx="6103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numbers = [1, 2, 2, 3, 4]</a:t>
            </a:r>
            <a:br>
              <a:rPr lang="en-US" dirty="0"/>
            </a:br>
            <a:r>
              <a:rPr lang="en-US" dirty="0" err="1"/>
              <a:t>my_set</a:t>
            </a:r>
            <a:r>
              <a:rPr lang="en-US" dirty="0"/>
              <a:t> = set(numbers)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my_set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5F0184-3F3D-A2C5-6495-2143E37FF6B9}"/>
              </a:ext>
            </a:extLst>
          </p:cNvPr>
          <p:cNvSpPr txBox="1"/>
          <p:nvPr/>
        </p:nvSpPr>
        <p:spPr>
          <a:xfrm>
            <a:off x="3850849" y="4592674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{1, 2, 3, 4}</a:t>
            </a:r>
          </a:p>
        </p:txBody>
      </p:sp>
    </p:spTree>
    <p:extLst>
      <p:ext uri="{BB962C8B-B14F-4D97-AF65-F5344CB8AC3E}">
        <p14:creationId xmlns:p14="http://schemas.microsoft.com/office/powerpoint/2010/main" val="42260959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Set union() Method</a:t>
            </a:r>
            <a:br>
              <a:rPr lang="en-US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41157"/>
            <a:ext cx="8596668" cy="54122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 </a:t>
            </a:r>
            <a:r>
              <a:rPr lang="en-US" dirty="0" err="1"/>
              <a:t>set.union</a:t>
            </a:r>
            <a:r>
              <a:rPr lang="en-US" dirty="0"/>
              <a:t>() method returns a new set with distinct elements from all the given sets.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nums1 = {1, 2, 2, 3, 4, 5}</a:t>
            </a:r>
          </a:p>
          <a:p>
            <a:pPr marL="0" indent="0">
              <a:buNone/>
            </a:pPr>
            <a:r>
              <a:rPr lang="en-US" dirty="0"/>
              <a:t>nums2 = {4, 5, 6, 7, 7, 8}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distinct_nums</a:t>
            </a:r>
            <a:r>
              <a:rPr lang="en-US" dirty="0"/>
              <a:t> = nums1.</a:t>
            </a:r>
            <a:r>
              <a:rPr lang="en-US" b="1" dirty="0"/>
              <a:t>union</a:t>
            </a:r>
            <a:r>
              <a:rPr lang="en-US" dirty="0"/>
              <a:t>(nums2)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print("The union of two sets is: ", </a:t>
            </a:r>
            <a:r>
              <a:rPr lang="en-US" dirty="0" err="1"/>
              <a:t>distinct_nums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r>
              <a:rPr lang="en-US" dirty="0"/>
              <a:t>The union of two sets is:  {1, 2, 3, 4, 5, 6, 7, 8}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7009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F74C-6E7B-5DFC-F922-D33A6CA6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Set intersection()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9B41C-67E4-B68E-C91C-7508DC7C3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nums1 = {1, 2, 2, 3, 4, 5}</a:t>
            </a:r>
          </a:p>
          <a:p>
            <a:pPr marL="0" indent="0">
              <a:buNone/>
            </a:pPr>
            <a:r>
              <a:rPr lang="en-US"/>
              <a:t>nums2 = {4, 5, 6, 7, 7, 8}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common_nums = nums1.intersection(nums2)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print("The intersection of two sets is:", common_nums)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3AA1EF-DB68-C3BE-8D8C-4025B22E05E2}"/>
              </a:ext>
            </a:extLst>
          </p:cNvPr>
          <p:cNvSpPr txBox="1"/>
          <p:nvPr/>
        </p:nvSpPr>
        <p:spPr>
          <a:xfrm>
            <a:off x="1119433" y="5377148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The intersection of two sets is: {4, 5}</a:t>
            </a:r>
          </a:p>
        </p:txBody>
      </p:sp>
    </p:spTree>
    <p:extLst>
      <p:ext uri="{BB962C8B-B14F-4D97-AF65-F5344CB8AC3E}">
        <p14:creationId xmlns:p14="http://schemas.microsoft.com/office/powerpoint/2010/main" val="3014377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556" y="325395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Set difference() Method</a:t>
            </a:r>
            <a:br>
              <a:rPr lang="en-US" dirty="0"/>
            </a:br>
            <a:r>
              <a:rPr lang="en-US" sz="2200" dirty="0">
                <a:solidFill>
                  <a:srgbClr val="002060"/>
                </a:solidFill>
              </a:rPr>
              <a:t>The </a:t>
            </a:r>
            <a:r>
              <a:rPr lang="en-US" sz="2200" dirty="0" err="1">
                <a:solidFill>
                  <a:srgbClr val="002060"/>
                </a:solidFill>
              </a:rPr>
              <a:t>set.difference</a:t>
            </a:r>
            <a:r>
              <a:rPr lang="en-US" sz="2200" dirty="0">
                <a:solidFill>
                  <a:srgbClr val="002060"/>
                </a:solidFill>
              </a:rPr>
              <a:t>() method returns the new set with the unique elements that are not in the other set passed as a parameter</a:t>
            </a:r>
            <a:br>
              <a:rPr lang="en-US" sz="2200" dirty="0">
                <a:solidFill>
                  <a:srgbClr val="002060"/>
                </a:solidFill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53515"/>
            <a:ext cx="9316995" cy="47697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nums1 = {1, 2, 2, 3, 4, 5}</a:t>
            </a:r>
          </a:p>
          <a:p>
            <a:pPr marL="0" indent="0">
              <a:buNone/>
            </a:pPr>
            <a:r>
              <a:rPr lang="en-US" dirty="0"/>
              <a:t>nums2 = {4, 5, 6, 7, 8, 8}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nums3 = nums1.difference(nums2)</a:t>
            </a:r>
          </a:p>
          <a:p>
            <a:pPr marL="0" indent="0">
              <a:buNone/>
            </a:pPr>
            <a:r>
              <a:rPr lang="en-US" dirty="0"/>
              <a:t>nums4 = nums2.difference(nums1)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print("nums1 - nums2: ", nums3)</a:t>
            </a:r>
          </a:p>
          <a:p>
            <a:pPr marL="0" indent="0">
              <a:buNone/>
            </a:pPr>
            <a:r>
              <a:rPr lang="en-US" dirty="0"/>
              <a:t>print("nums2 - nums1: ", nums4)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r>
              <a:rPr lang="en-US" dirty="0"/>
              <a:t>nums1 - nums2: {1, 2, 3}</a:t>
            </a:r>
          </a:p>
          <a:p>
            <a:pPr marL="0" indent="0">
              <a:buNone/>
            </a:pPr>
            <a:r>
              <a:rPr lang="en-US" dirty="0"/>
              <a:t>nums2 - nums1: {8, 6, 7}</a:t>
            </a:r>
          </a:p>
        </p:txBody>
      </p:sp>
      <p:sp>
        <p:nvSpPr>
          <p:cNvPr id="5" name="Rectangle 4"/>
          <p:cNvSpPr/>
          <p:nvPr/>
        </p:nvSpPr>
        <p:spPr>
          <a:xfrm>
            <a:off x="280086" y="6582372"/>
            <a:ext cx="6096000" cy="1538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" dirty="0"/>
              <a:t>https://www.tutorialsteacher.com/python/set-difference</a:t>
            </a:r>
          </a:p>
        </p:txBody>
      </p:sp>
    </p:spTree>
    <p:extLst>
      <p:ext uri="{BB962C8B-B14F-4D97-AF65-F5344CB8AC3E}">
        <p14:creationId xmlns:p14="http://schemas.microsoft.com/office/powerpoint/2010/main" val="33100866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FA8F-5B43-6D09-D52C-2E0FB726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Set Operations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65738-6C70-8231-C82F-273EFEF3D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= {1, 2, 3, 4}</a:t>
            </a:r>
          </a:p>
          <a:p>
            <a:pPr marL="0" indent="0">
              <a:buNone/>
            </a:pPr>
            <a:r>
              <a:rPr lang="en-US" dirty="0"/>
              <a:t>B = {3, 4, 5, 6}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print(A </a:t>
            </a:r>
            <a:r>
              <a:rPr lang="en-US" b="1" dirty="0">
                <a:solidFill>
                  <a:srgbClr val="FF0000"/>
                </a:solidFill>
              </a:rPr>
              <a:t>|</a:t>
            </a:r>
            <a:r>
              <a:rPr lang="en-US" dirty="0"/>
              <a:t> B)   # Union</a:t>
            </a:r>
          </a:p>
          <a:p>
            <a:pPr marL="0" indent="0">
              <a:buNone/>
            </a:pPr>
            <a:r>
              <a:rPr lang="en-US" dirty="0"/>
              <a:t>print(A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dirty="0"/>
              <a:t> B)   # Intersection</a:t>
            </a:r>
          </a:p>
          <a:p>
            <a:pPr marL="0" indent="0">
              <a:buNone/>
            </a:pPr>
            <a:r>
              <a:rPr lang="en-US" dirty="0"/>
              <a:t>print(A </a:t>
            </a:r>
            <a:r>
              <a:rPr lang="en-US" b="1" dirty="0">
                <a:solidFill>
                  <a:srgbClr val="FF0000"/>
                </a:solidFill>
              </a:rPr>
              <a:t>- </a:t>
            </a:r>
            <a:r>
              <a:rPr lang="en-US" dirty="0"/>
              <a:t>B)   # Difference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B724B-5DEE-9A56-54C3-11A60B45ED1C}"/>
              </a:ext>
            </a:extLst>
          </p:cNvPr>
          <p:cNvSpPr txBox="1"/>
          <p:nvPr/>
        </p:nvSpPr>
        <p:spPr>
          <a:xfrm>
            <a:off x="2703136" y="5071222"/>
            <a:ext cx="6103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Output: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{1, 2, 3, 4, 5, 6}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{3, 4}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{1, 2}</a:t>
            </a:r>
          </a:p>
        </p:txBody>
      </p:sp>
    </p:spTree>
    <p:extLst>
      <p:ext uri="{BB962C8B-B14F-4D97-AF65-F5344CB8AC3E}">
        <p14:creationId xmlns:p14="http://schemas.microsoft.com/office/powerpoint/2010/main" val="36443984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14424</TotalTime>
  <Words>3441</Words>
  <Application>Microsoft Office PowerPoint</Application>
  <PresentationFormat>Widescreen</PresentationFormat>
  <Paragraphs>522</Paragraphs>
  <Slides>69</Slides>
  <Notes>3</Notes>
  <HiddenSlides>19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PYTHON </vt:lpstr>
      <vt:lpstr>Python List</vt:lpstr>
      <vt:lpstr>PowerPoint Presentation</vt:lpstr>
      <vt:lpstr>PowerPoint Presentation</vt:lpstr>
      <vt:lpstr>Negative indexing </vt:lpstr>
      <vt:lpstr> list using the append() method or add several items using extend() method.</vt:lpstr>
      <vt:lpstr>+ operator to combine two lists.  * operator repeats a list for the given number of times.</vt:lpstr>
      <vt:lpstr>Python- Delete</vt:lpstr>
      <vt:lpstr>List Length   &amp; Remove </vt:lpstr>
      <vt:lpstr>Python - Loop Lists </vt:lpstr>
      <vt:lpstr>Python - Sort Lists </vt:lpstr>
      <vt:lpstr>Sort Descending To sort descending, use the keyword argument reverse = True: </vt:lpstr>
      <vt:lpstr>Python - Copy Lists </vt:lpstr>
      <vt:lpstr>Python-insert()</vt:lpstr>
      <vt:lpstr>Remove Specified Index </vt:lpstr>
      <vt:lpstr> del keyword also removes the specified index:</vt:lpstr>
      <vt:lpstr>Python List count() Method </vt:lpstr>
      <vt:lpstr>list copy() method</vt:lpstr>
      <vt:lpstr>list index() method</vt:lpstr>
      <vt:lpstr>Python- Delete</vt:lpstr>
      <vt:lpstr>Python- pop</vt:lpstr>
      <vt:lpstr>Python – del operator</vt:lpstr>
      <vt:lpstr>Python- remove</vt:lpstr>
      <vt:lpstr>Python- remove</vt:lpstr>
      <vt:lpstr>Python- remove all</vt:lpstr>
      <vt:lpstr>Python – list - Built-in-function </vt:lpstr>
      <vt:lpstr>Python-List and String</vt:lpstr>
      <vt:lpstr>Python - Split</vt:lpstr>
      <vt:lpstr>Python - uses a hyphen as a delimiter:</vt:lpstr>
      <vt:lpstr>Python – list - Built-in-function </vt:lpstr>
      <vt:lpstr>PowerPoint Presentation</vt:lpstr>
      <vt:lpstr>Python Tuples</vt:lpstr>
      <vt:lpstr>PowerPoint Presentation</vt:lpstr>
      <vt:lpstr>Accessing tuple elements using positive indexes  </vt:lpstr>
      <vt:lpstr>Negative indexes in tuples </vt:lpstr>
      <vt:lpstr>Accessing elements from nested tuples </vt:lpstr>
      <vt:lpstr>Changing the elements of a tuple </vt:lpstr>
      <vt:lpstr>Delete operation on tuple </vt:lpstr>
      <vt:lpstr>Slicing operation in tuples </vt:lpstr>
      <vt:lpstr>Membership Test in Tuples </vt:lpstr>
      <vt:lpstr>Iterating a tuple </vt:lpstr>
      <vt:lpstr>PowerPoint Presentation</vt:lpstr>
      <vt:lpstr> Basic Tuples Operations  </vt:lpstr>
      <vt:lpstr>Python -Built-in Tuple Functions</vt:lpstr>
      <vt:lpstr>Python Tuple len() Method </vt:lpstr>
      <vt:lpstr>Python Tuple max() Method</vt:lpstr>
      <vt:lpstr>Python – Tuple assignment</vt:lpstr>
      <vt:lpstr>PowerPoint Presentation</vt:lpstr>
      <vt:lpstr>Python Dictionary </vt:lpstr>
      <vt:lpstr>Accessing Elements from Dictionary </vt:lpstr>
      <vt:lpstr>PowerPoint Presentation</vt:lpstr>
      <vt:lpstr>PowerPoint Presentation</vt:lpstr>
      <vt:lpstr>PowerPoint Presentation</vt:lpstr>
      <vt:lpstr>Changing and Adding Dictionary elements </vt:lpstr>
      <vt:lpstr>Python – Dictionaries Example </vt:lpstr>
      <vt:lpstr>Removing elements from Dictionary </vt:lpstr>
      <vt:lpstr>PowerPoint Presentation</vt:lpstr>
      <vt:lpstr>PowerPoint Presentation</vt:lpstr>
      <vt:lpstr>Python Dictionary </vt:lpstr>
      <vt:lpstr>How to change or add elements in a dictionary? </vt:lpstr>
      <vt:lpstr>PowerPoint Presentation</vt:lpstr>
      <vt:lpstr>Python Sets </vt:lpstr>
      <vt:lpstr>Python Sets</vt:lpstr>
      <vt:lpstr>Python Sets</vt:lpstr>
      <vt:lpstr>Removing Element</vt:lpstr>
      <vt:lpstr>Python Set union() Method </vt:lpstr>
      <vt:lpstr>Python Set intersection() Method</vt:lpstr>
      <vt:lpstr>Python Set difference() Method The set.difference() method returns the new set with the unique elements that are not in the other set passed as a parameter </vt:lpstr>
      <vt:lpstr>Set Operations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admin</dc:creator>
  <cp:lastModifiedBy>Jayaprakash Subramaniam - Adjunct Faculty (WD)</cp:lastModifiedBy>
  <cp:revision>2505</cp:revision>
  <dcterms:created xsi:type="dcterms:W3CDTF">2017-12-06T04:46:07Z</dcterms:created>
  <dcterms:modified xsi:type="dcterms:W3CDTF">2026-09-28T04:02:04Z</dcterms:modified>
</cp:coreProperties>
</file>